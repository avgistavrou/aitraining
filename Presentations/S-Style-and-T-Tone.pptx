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Roboto Slab"/>
      <p:regular r:id="rId27"/>
    </p:embeddedFont>
    <p:embeddedFont>
      <p:font typeface="Roboto Slab"/>
      <p:regular r:id="rId28"/>
    </p:embeddedFont>
    <p:embeddedFont>
      <p:font typeface="Roboto"/>
      <p:regular r:id="rId29"/>
    </p:embeddedFont>
    <p:embeddedFont>
      <p:font typeface="Roboto"/>
      <p:regular r:id="rId30"/>
    </p:embeddedFont>
    <p:embeddedFont>
      <p:font typeface="Roboto"/>
      <p:regular r:id="rId31"/>
    </p:embeddedFont>
    <p:embeddedFont>
      <p:font typeface="Roboto"/>
      <p:regular r:id="rId3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sv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svg"/><Relationship Id="rId10" Type="http://schemas.openxmlformats.org/officeDocument/2006/relationships/slideLayout" Target="../slideLayouts/slideLayout17.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172533"/>
            <a:ext cx="4978360"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S - Style and T - Tone</a:t>
            </a:r>
            <a:endParaRPr lang="en-US" sz="3900" dirty="0"/>
          </a:p>
        </p:txBody>
      </p:sp>
      <p:sp>
        <p:nvSpPr>
          <p:cNvPr id="3" name="Text 1"/>
          <p:cNvSpPr/>
          <p:nvPr/>
        </p:nvSpPr>
        <p:spPr>
          <a:xfrm>
            <a:off x="793790" y="3189446"/>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Style</a:t>
            </a:r>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defines your writing approach, such as: Academic, Journalistic, Technical, Executive, or Conversational. </a:t>
            </a:r>
            <a:endParaRPr lang="en-US" sz="1550" dirty="0"/>
          </a:p>
        </p:txBody>
      </p:sp>
      <p:sp>
        <p:nvSpPr>
          <p:cNvPr id="4" name="Text 2"/>
          <p:cNvSpPr/>
          <p:nvPr/>
        </p:nvSpPr>
        <p:spPr>
          <a:xfrm>
            <a:off x="793790" y="3730228"/>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Tone</a:t>
            </a:r>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conveys the emotional quality of your message: Confident, Cautious, Inspirational, Objective, or Urgent.</a:t>
            </a:r>
            <a:endParaRPr lang="en-US" sz="1550" dirty="0"/>
          </a:p>
        </p:txBody>
      </p:sp>
      <p:sp>
        <p:nvSpPr>
          <p:cNvPr id="5" name="Text 3"/>
          <p:cNvSpPr/>
          <p:nvPr/>
        </p:nvSpPr>
        <p:spPr>
          <a:xfrm>
            <a:off x="793790" y="4271010"/>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Together, Style and Tone create your unique </a:t>
            </a:r>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Voice</a:t>
            </a:r>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This is a strategic choice, not an arbitrary one. For example:</a:t>
            </a:r>
            <a:endParaRPr lang="en-US" sz="1550" dirty="0"/>
          </a:p>
        </p:txBody>
      </p:sp>
      <p:sp>
        <p:nvSpPr>
          <p:cNvPr id="6" name="Text 4"/>
          <p:cNvSpPr/>
          <p:nvPr/>
        </p:nvSpPr>
        <p:spPr>
          <a:xfrm>
            <a:off x="793790" y="4811792"/>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An investor pitch might blend a journalistic style with a confident tone to inspire trust and demonstrate potential.</a:t>
            </a:r>
            <a:endParaRPr lang="en-US" sz="1550" dirty="0"/>
          </a:p>
        </p:txBody>
      </p:sp>
      <p:sp>
        <p:nvSpPr>
          <p:cNvPr id="7" name="Text 5"/>
          <p:cNvSpPr/>
          <p:nvPr/>
        </p:nvSpPr>
        <p:spPr>
          <a:xfrm>
            <a:off x="793790" y="5198745"/>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Safety protocols, conversely, demand a technical style with a cautious tone to ensure clarity and precision.</a:t>
            </a:r>
            <a:endParaRPr lang="en-US" sz="1550" dirty="0"/>
          </a:p>
        </p:txBody>
      </p:sp>
      <p:sp>
        <p:nvSpPr>
          <p:cNvPr id="8" name="Text 6"/>
          <p:cNvSpPr/>
          <p:nvPr/>
        </p:nvSpPr>
        <p:spPr>
          <a:xfrm>
            <a:off x="793790" y="5739527"/>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By intentionally aligning your Style and Tone, you craft a Voice that effectively resonates with your audience and purpose.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41440"/>
            <a:ext cx="7176849"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A - Audience and R - Response</a:t>
            </a:r>
            <a:endParaRPr lang="en-US" sz="3900" dirty="0"/>
          </a:p>
        </p:txBody>
      </p:sp>
      <p:sp>
        <p:nvSpPr>
          <p:cNvPr id="3" name="Text 1"/>
          <p:cNvSpPr/>
          <p:nvPr/>
        </p:nvSpPr>
        <p:spPr>
          <a:xfrm>
            <a:off x="793790" y="2157532"/>
            <a:ext cx="4374237" cy="372070"/>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A - Audience (Who Reads This)</a:t>
            </a:r>
            <a:endParaRPr lang="en-US" sz="2300" dirty="0"/>
          </a:p>
        </p:txBody>
      </p:sp>
      <p:sp>
        <p:nvSpPr>
          <p:cNvPr id="4" name="Text 2"/>
          <p:cNvSpPr/>
          <p:nvPr/>
        </p:nvSpPr>
        <p:spPr>
          <a:xfrm>
            <a:off x="793790" y="2727960"/>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Define:</a:t>
            </a:r>
            <a:endParaRPr lang="en-US" sz="1550" dirty="0"/>
          </a:p>
        </p:txBody>
      </p:sp>
      <p:sp>
        <p:nvSpPr>
          <p:cNvPr id="5" name="Text 3"/>
          <p:cNvSpPr/>
          <p:nvPr/>
        </p:nvSpPr>
        <p:spPr>
          <a:xfrm>
            <a:off x="793790" y="322409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Technical background</a:t>
            </a:r>
            <a:endParaRPr lang="en-US" sz="1550" dirty="0"/>
          </a:p>
        </p:txBody>
      </p:sp>
      <p:sp>
        <p:nvSpPr>
          <p:cNvPr id="6" name="Text 4"/>
          <p:cNvSpPr/>
          <p:nvPr/>
        </p:nvSpPr>
        <p:spPr>
          <a:xfrm>
            <a:off x="793790" y="361104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Priorities/concerns</a:t>
            </a:r>
            <a:endParaRPr lang="en-US" sz="1550" dirty="0"/>
          </a:p>
        </p:txBody>
      </p:sp>
      <p:sp>
        <p:nvSpPr>
          <p:cNvPr id="7" name="Text 5"/>
          <p:cNvSpPr/>
          <p:nvPr/>
        </p:nvSpPr>
        <p:spPr>
          <a:xfrm>
            <a:off x="793790" y="399800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Existing knowledge</a:t>
            </a:r>
            <a:endParaRPr lang="en-US" sz="1550" dirty="0"/>
          </a:p>
        </p:txBody>
      </p:sp>
      <p:sp>
        <p:nvSpPr>
          <p:cNvPr id="8" name="Text 6"/>
          <p:cNvSpPr/>
          <p:nvPr/>
        </p:nvSpPr>
        <p:spPr>
          <a:xfrm>
            <a:off x="793790" y="438495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Decision criteria</a:t>
            </a:r>
            <a:endParaRPr lang="en-US" sz="1550" dirty="0"/>
          </a:p>
        </p:txBody>
      </p:sp>
      <p:sp>
        <p:nvSpPr>
          <p:cNvPr id="9" name="Text 7"/>
          <p:cNvSpPr/>
          <p:nvPr/>
        </p:nvSpPr>
        <p:spPr>
          <a:xfrm>
            <a:off x="793790" y="4881086"/>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Example: Audience: "VC partners at deep-tech firms. Understand business fundamentals but not materials science. Sceptical of greenwashing - want hard data."</a:t>
            </a:r>
            <a:endParaRPr lang="en-US" sz="1550" dirty="0"/>
          </a:p>
        </p:txBody>
      </p:sp>
      <p:sp>
        <p:nvSpPr>
          <p:cNvPr id="10" name="Text 8"/>
          <p:cNvSpPr/>
          <p:nvPr/>
        </p:nvSpPr>
        <p:spPr>
          <a:xfrm>
            <a:off x="7564874" y="2157532"/>
            <a:ext cx="4727615" cy="372070"/>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R - Response (Format &amp; Structure)</a:t>
            </a:r>
            <a:endParaRPr lang="en-US" sz="2300" dirty="0"/>
          </a:p>
        </p:txBody>
      </p:sp>
      <p:sp>
        <p:nvSpPr>
          <p:cNvPr id="11" name="Text 9"/>
          <p:cNvSpPr/>
          <p:nvPr/>
        </p:nvSpPr>
        <p:spPr>
          <a:xfrm>
            <a:off x="7564874" y="2727960"/>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Specify:</a:t>
            </a:r>
            <a:endParaRPr lang="en-US" sz="1550" dirty="0"/>
          </a:p>
        </p:txBody>
      </p:sp>
      <p:sp>
        <p:nvSpPr>
          <p:cNvPr id="12" name="Text 10"/>
          <p:cNvSpPr/>
          <p:nvPr/>
        </p:nvSpPr>
        <p:spPr>
          <a:xfrm>
            <a:off x="7564874" y="322409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Length (pages/words)</a:t>
            </a:r>
            <a:endParaRPr lang="en-US" sz="1550" dirty="0"/>
          </a:p>
        </p:txBody>
      </p:sp>
      <p:sp>
        <p:nvSpPr>
          <p:cNvPr id="13" name="Text 11"/>
          <p:cNvSpPr/>
          <p:nvPr/>
        </p:nvSpPr>
        <p:spPr>
          <a:xfrm>
            <a:off x="7564874" y="361104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Sections and order</a:t>
            </a:r>
            <a:endParaRPr lang="en-US" sz="1550" dirty="0"/>
          </a:p>
        </p:txBody>
      </p:sp>
      <p:sp>
        <p:nvSpPr>
          <p:cNvPr id="14" name="Text 12"/>
          <p:cNvSpPr/>
          <p:nvPr/>
        </p:nvSpPr>
        <p:spPr>
          <a:xfrm>
            <a:off x="7564874" y="399800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Required elements</a:t>
            </a:r>
            <a:endParaRPr lang="en-US" sz="1550" dirty="0"/>
          </a:p>
        </p:txBody>
      </p:sp>
      <p:sp>
        <p:nvSpPr>
          <p:cNvPr id="15" name="Text 13"/>
          <p:cNvSpPr/>
          <p:nvPr/>
        </p:nvSpPr>
        <p:spPr>
          <a:xfrm>
            <a:off x="7564874" y="438495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Visual callouts</a:t>
            </a:r>
            <a:endParaRPr lang="en-US" sz="1550" dirty="0"/>
          </a:p>
        </p:txBody>
      </p:sp>
      <p:sp>
        <p:nvSpPr>
          <p:cNvPr id="16" name="Text 14"/>
          <p:cNvSpPr/>
          <p:nvPr/>
        </p:nvSpPr>
        <p:spPr>
          <a:xfrm>
            <a:off x="7564874" y="4881086"/>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Response: "2-page executive summary: Hook (1 para), Problem (2 paras), Solution (3 paras), Market (2 paras), Ask (1 para). Include data visualisation callouts."</a:t>
            </a:r>
            <a:endParaRPr lang="en-US" sz="1550" dirty="0"/>
          </a:p>
        </p:txBody>
      </p:sp>
      <p:sp>
        <p:nvSpPr>
          <p:cNvPr id="17" name="Text 15"/>
          <p:cNvSpPr/>
          <p:nvPr/>
        </p:nvSpPr>
        <p:spPr>
          <a:xfrm>
            <a:off x="793790" y="6235541"/>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Audience and Response complete the framework. Audience defines who reads this and their needs - technical background, priorities, scepticism. Response specifies exact structure - not just "write a summary" but "2-page summary with these specific sections in this order." Together they ensure output matches audience needs perfectly.</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545783"/>
            <a:ext cx="7680008"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Live Demo 3 - CO-STAR in Action</a:t>
            </a:r>
            <a:endParaRPr lang="en-US" sz="3900" dirty="0"/>
          </a:p>
        </p:txBody>
      </p:sp>
      <p:sp>
        <p:nvSpPr>
          <p:cNvPr id="3" name="Text 1"/>
          <p:cNvSpPr/>
          <p:nvPr/>
        </p:nvSpPr>
        <p:spPr>
          <a:xfrm>
            <a:off x="793790" y="1463516"/>
            <a:ext cx="9923621" cy="1240393"/>
          </a:xfrm>
          <a:prstGeom prst="rect">
            <a:avLst/>
          </a:prstGeom>
          <a:noFill/>
          <a:ln/>
        </p:spPr>
        <p:txBody>
          <a:bodyPr wrap="none" lIns="0" tIns="0" rIns="0" bIns="0" rtlCol="0" anchor="t"/>
          <a:lstStyle/>
          <a:p>
            <a:pPr algn="l" indent="0" marL="0">
              <a:lnSpc>
                <a:spcPts val="9750"/>
              </a:lnSpc>
              <a:buNone/>
            </a:pPr>
            <a:r>
              <a:rPr lang="en-US" sz="7800" dirty="0">
                <a:solidFill>
                  <a:srgbClr val="3257B8"/>
                </a:solidFill>
                <a:latin typeface="Roboto Slab" pitchFamily="34" charset="0"/>
                <a:ea typeface="Roboto Slab" pitchFamily="34" charset="-122"/>
                <a:cs typeface="Roboto Slab" pitchFamily="34" charset="-120"/>
              </a:rPr>
              <a:t>LIVE DEMO #3</a:t>
            </a:r>
            <a:endParaRPr lang="en-US" sz="7800" dirty="0"/>
          </a:p>
        </p:txBody>
      </p:sp>
      <p:sp>
        <p:nvSpPr>
          <p:cNvPr id="4" name="Text 2"/>
          <p:cNvSpPr/>
          <p:nvPr/>
        </p:nvSpPr>
        <p:spPr>
          <a:xfrm>
            <a:off x="793790" y="3001566"/>
            <a:ext cx="5286375"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Complete CO-STAR Example</a:t>
            </a:r>
            <a:endParaRPr lang="en-US" sz="3100" dirty="0"/>
          </a:p>
        </p:txBody>
      </p:sp>
      <p:sp>
        <p:nvSpPr>
          <p:cNvPr id="5" name="Text 3"/>
          <p:cNvSpPr/>
          <p:nvPr/>
        </p:nvSpPr>
        <p:spPr>
          <a:xfrm>
            <a:off x="793790" y="3795355"/>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Task:</a:t>
            </a:r>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Executive summary for R&amp;D Director about AI adoption in lab</a:t>
            </a:r>
            <a:endParaRPr lang="en-US" sz="1550" dirty="0"/>
          </a:p>
        </p:txBody>
      </p:sp>
      <p:sp>
        <p:nvSpPr>
          <p:cNvPr id="6" name="Text 4"/>
          <p:cNvSpPr/>
          <p:nvPr/>
        </p:nvSpPr>
        <p:spPr>
          <a:xfrm>
            <a:off x="793790" y="4336137"/>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Watch:</a:t>
            </a:r>
            <a:endParaRPr lang="en-US" sz="1550" dirty="0"/>
          </a:p>
        </p:txBody>
      </p:sp>
      <p:sp>
        <p:nvSpPr>
          <p:cNvPr id="7" name="Text 5"/>
          <p:cNvSpPr/>
          <p:nvPr/>
        </p:nvSpPr>
        <p:spPr>
          <a:xfrm>
            <a:off x="793790" y="4876919"/>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1"/>
            </a:pPr>
            <a:r>
              <a:rPr lang="en-US" sz="1550" dirty="0">
                <a:solidFill>
                  <a:srgbClr val="15213F"/>
                </a:solidFill>
                <a:latin typeface="Roboto" pitchFamily="34" charset="0"/>
                <a:ea typeface="Roboto" pitchFamily="34" charset="-122"/>
                <a:cs typeface="Roboto" pitchFamily="34" charset="-120"/>
              </a:rPr>
              <a:t>Building prompt with all 6 components</a:t>
            </a:r>
            <a:endParaRPr lang="en-US" sz="1550" dirty="0"/>
          </a:p>
        </p:txBody>
      </p:sp>
      <p:sp>
        <p:nvSpPr>
          <p:cNvPr id="8" name="Text 6"/>
          <p:cNvSpPr/>
          <p:nvPr/>
        </p:nvSpPr>
        <p:spPr>
          <a:xfrm>
            <a:off x="793790" y="5263872"/>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2"/>
            </a:pPr>
            <a:r>
              <a:rPr lang="en-US" sz="1550" dirty="0">
                <a:solidFill>
                  <a:srgbClr val="15213F"/>
                </a:solidFill>
                <a:latin typeface="Roboto" pitchFamily="34" charset="0"/>
                <a:ea typeface="Roboto" pitchFamily="34" charset="-122"/>
                <a:cs typeface="Roboto" pitchFamily="34" charset="-120"/>
              </a:rPr>
              <a:t>First-shot result</a:t>
            </a:r>
            <a:endParaRPr lang="en-US" sz="1550" dirty="0"/>
          </a:p>
        </p:txBody>
      </p:sp>
      <p:sp>
        <p:nvSpPr>
          <p:cNvPr id="9" name="Text 7"/>
          <p:cNvSpPr/>
          <p:nvPr/>
        </p:nvSpPr>
        <p:spPr>
          <a:xfrm>
            <a:off x="793790" y="5650825"/>
            <a:ext cx="13042821"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3"/>
            </a:pPr>
            <a:r>
              <a:rPr lang="en-US" sz="1550" dirty="0">
                <a:solidFill>
                  <a:srgbClr val="15213F"/>
                </a:solidFill>
                <a:latin typeface="Roboto" pitchFamily="34" charset="0"/>
                <a:ea typeface="Roboto" pitchFamily="34" charset="-122"/>
                <a:cs typeface="Roboto" pitchFamily="34" charset="-120"/>
              </a:rPr>
              <a:t>Quality assessment</a:t>
            </a:r>
            <a:endParaRPr lang="en-US" sz="1550" dirty="0"/>
          </a:p>
        </p:txBody>
      </p:sp>
      <p:sp>
        <p:nvSpPr>
          <p:cNvPr id="10" name="Text 8"/>
          <p:cNvSpPr/>
          <p:nvPr/>
        </p:nvSpPr>
        <p:spPr>
          <a:xfrm>
            <a:off x="793790" y="6191607"/>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Real-world scenario, real-time demo</a:t>
            </a:r>
            <a:endParaRPr lang="en-US" sz="1550" dirty="0"/>
          </a:p>
        </p:txBody>
      </p:sp>
      <p:sp>
        <p:nvSpPr>
          <p:cNvPr id="11" name="Text 9"/>
          <p:cNvSpPr/>
          <p:nvPr/>
        </p:nvSpPr>
        <p:spPr>
          <a:xfrm>
            <a:off x="793790" y="6732389"/>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Live demo time! Real scenario: R&amp;D Director wants to understand business case for lab AI adoption. I'll build complete CO-STAR prompt live, covering all six components. Then we'll execute and assess quality. Watch how each component shapes the output. [Execute live: Build prompt explaining each component as you add it, then show result and assess whether it meets all criteria]</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463754" y="445175"/>
            <a:ext cx="9002316" cy="505778"/>
          </a:xfrm>
          <a:prstGeom prst="rect">
            <a:avLst/>
          </a:prstGeom>
          <a:noFill/>
          <a:ln/>
        </p:spPr>
        <p:txBody>
          <a:bodyPr wrap="none" lIns="0" tIns="0" rIns="0" bIns="0" rtlCol="0" anchor="t"/>
          <a:lstStyle/>
          <a:p>
            <a:pPr algn="l" indent="0" marL="0">
              <a:lnSpc>
                <a:spcPts val="3950"/>
              </a:lnSpc>
              <a:buNone/>
            </a:pPr>
            <a:r>
              <a:rPr lang="en-US" sz="3150" dirty="0">
                <a:solidFill>
                  <a:srgbClr val="3257B8"/>
                </a:solidFill>
                <a:latin typeface="Roboto Slab" pitchFamily="34" charset="0"/>
                <a:ea typeface="Roboto Slab" pitchFamily="34" charset="-122"/>
                <a:cs typeface="Roboto Slab" pitchFamily="34" charset="-120"/>
              </a:rPr>
              <a:t>Small Group Activity 2 - Build CO-STAR Prompt</a:t>
            </a:r>
            <a:endParaRPr lang="en-US" sz="3150" dirty="0"/>
          </a:p>
        </p:txBody>
      </p:sp>
      <p:sp>
        <p:nvSpPr>
          <p:cNvPr id="3" name="Text 1"/>
          <p:cNvSpPr/>
          <p:nvPr/>
        </p:nvSpPr>
        <p:spPr>
          <a:xfrm>
            <a:off x="1463754" y="1193721"/>
            <a:ext cx="7591663" cy="698063"/>
          </a:xfrm>
          <a:prstGeom prst="rect">
            <a:avLst/>
          </a:prstGeom>
          <a:noFill/>
          <a:ln/>
        </p:spPr>
        <p:txBody>
          <a:bodyPr wrap="none" lIns="0" tIns="0" rIns="0" bIns="0" rtlCol="0" anchor="t"/>
          <a:lstStyle/>
          <a:p>
            <a:pPr algn="l" indent="0" marL="0">
              <a:lnSpc>
                <a:spcPts val="5450"/>
              </a:lnSpc>
              <a:buNone/>
            </a:pPr>
            <a:r>
              <a:rPr lang="en-US" sz="4350" dirty="0">
                <a:solidFill>
                  <a:srgbClr val="3257B8"/>
                </a:solidFill>
                <a:latin typeface="Roboto Slab" pitchFamily="34" charset="0"/>
                <a:ea typeface="Roboto Slab" pitchFamily="34" charset="-122"/>
                <a:cs typeface="Roboto Slab" pitchFamily="34" charset="-120"/>
              </a:rPr>
              <a:t>SMALL GROUP ACTIVITY #2</a:t>
            </a:r>
            <a:endParaRPr lang="en-US" sz="4350" dirty="0"/>
          </a:p>
        </p:txBody>
      </p:sp>
      <p:sp>
        <p:nvSpPr>
          <p:cNvPr id="4" name="Text 2"/>
          <p:cNvSpPr/>
          <p:nvPr/>
        </p:nvSpPr>
        <p:spPr>
          <a:xfrm>
            <a:off x="1463754" y="2134553"/>
            <a:ext cx="7001947" cy="404813"/>
          </a:xfrm>
          <a:prstGeom prst="rect">
            <a:avLst/>
          </a:prstGeom>
          <a:noFill/>
          <a:ln/>
        </p:spPr>
        <p:txBody>
          <a:bodyPr wrap="none" lIns="0" tIns="0" rIns="0" bIns="0" rtlCol="0" anchor="t"/>
          <a:lstStyle/>
          <a:p>
            <a:pPr algn="l" indent="0" marL="0">
              <a:lnSpc>
                <a:spcPts val="3150"/>
              </a:lnSpc>
              <a:buNone/>
            </a:pPr>
            <a:r>
              <a:rPr lang="en-US" sz="2500" dirty="0">
                <a:solidFill>
                  <a:srgbClr val="3257B8"/>
                </a:solidFill>
                <a:latin typeface="Roboto Slab" pitchFamily="34" charset="0"/>
                <a:ea typeface="Roboto Slab" pitchFamily="34" charset="-122"/>
                <a:cs typeface="Roboto Slab" pitchFamily="34" charset="-120"/>
              </a:rPr>
              <a:t>(15 minutes) Build Your Own CO-STAR Prompt</a:t>
            </a:r>
            <a:endParaRPr lang="en-US" sz="2500" dirty="0"/>
          </a:p>
        </p:txBody>
      </p:sp>
      <p:sp>
        <p:nvSpPr>
          <p:cNvPr id="5" name="Text 3"/>
          <p:cNvSpPr/>
          <p:nvPr/>
        </p:nvSpPr>
        <p:spPr>
          <a:xfrm>
            <a:off x="1463754" y="2782133"/>
            <a:ext cx="11702772" cy="259080"/>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Groups of 3-4</a:t>
            </a:r>
            <a:endParaRPr lang="en-US" sz="1250" dirty="0"/>
          </a:p>
        </p:txBody>
      </p:sp>
      <p:sp>
        <p:nvSpPr>
          <p:cNvPr id="6" name="Text 4"/>
          <p:cNvSpPr/>
          <p:nvPr/>
        </p:nvSpPr>
        <p:spPr>
          <a:xfrm>
            <a:off x="1463754" y="3223260"/>
            <a:ext cx="11702772" cy="259080"/>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Scenario: Write 1-page memo to AmaDema management about implementing green AI practices in R&amp;D team.</a:t>
            </a:r>
            <a:endParaRPr lang="en-US" sz="1250" dirty="0"/>
          </a:p>
        </p:txBody>
      </p:sp>
      <p:sp>
        <p:nvSpPr>
          <p:cNvPr id="7" name="Text 5"/>
          <p:cNvSpPr/>
          <p:nvPr/>
        </p:nvSpPr>
        <p:spPr>
          <a:xfrm>
            <a:off x="1463754" y="3664387"/>
            <a:ext cx="11702772" cy="259080"/>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Your task:</a:t>
            </a:r>
            <a:endParaRPr lang="en-US" sz="1250" dirty="0"/>
          </a:p>
        </p:txBody>
      </p:sp>
      <p:sp>
        <p:nvSpPr>
          <p:cNvPr id="8" name="Text 6"/>
          <p:cNvSpPr/>
          <p:nvPr/>
        </p:nvSpPr>
        <p:spPr>
          <a:xfrm>
            <a:off x="1463754" y="4105513"/>
            <a:ext cx="11702772" cy="259080"/>
          </a:xfrm>
          <a:prstGeom prst="rect">
            <a:avLst/>
          </a:prstGeom>
          <a:noFill/>
          <a:ln/>
        </p:spPr>
        <p:txBody>
          <a:bodyPr wrap="none" lIns="0" tIns="0" rIns="0" bIns="0" rtlCol="0" anchor="t"/>
          <a:lstStyle/>
          <a:p>
            <a:pPr algn="l" marL="342900" indent="-342900">
              <a:lnSpc>
                <a:spcPts val="2000"/>
              </a:lnSpc>
              <a:buSzPct val="100000"/>
              <a:buFont typeface="+mj-lt"/>
              <a:buAutoNum type="arabicPeriod" startAt="1"/>
            </a:pPr>
            <a:r>
              <a:rPr lang="en-US" sz="1250" dirty="0">
                <a:solidFill>
                  <a:srgbClr val="15213F"/>
                </a:solidFill>
                <a:latin typeface="Roboto" pitchFamily="34" charset="0"/>
                <a:ea typeface="Roboto" pitchFamily="34" charset="-122"/>
                <a:cs typeface="Roboto" pitchFamily="34" charset="-120"/>
              </a:rPr>
              <a:t>Discuss what each component should contain (5 min)</a:t>
            </a:r>
            <a:endParaRPr lang="en-US" sz="1250" dirty="0"/>
          </a:p>
        </p:txBody>
      </p:sp>
      <p:sp>
        <p:nvSpPr>
          <p:cNvPr id="9" name="Text 7"/>
          <p:cNvSpPr/>
          <p:nvPr/>
        </p:nvSpPr>
        <p:spPr>
          <a:xfrm>
            <a:off x="1463754" y="4421148"/>
            <a:ext cx="11702772" cy="259080"/>
          </a:xfrm>
          <a:prstGeom prst="rect">
            <a:avLst/>
          </a:prstGeom>
          <a:noFill/>
          <a:ln/>
        </p:spPr>
        <p:txBody>
          <a:bodyPr wrap="none" lIns="0" tIns="0" rIns="0" bIns="0" rtlCol="0" anchor="t"/>
          <a:lstStyle/>
          <a:p>
            <a:pPr algn="l" marL="342900" indent="-342900">
              <a:lnSpc>
                <a:spcPts val="2000"/>
              </a:lnSpc>
              <a:buSzPct val="100000"/>
              <a:buFont typeface="+mj-lt"/>
              <a:buAutoNum type="arabicPeriod" startAt="2"/>
            </a:pPr>
            <a:r>
              <a:rPr lang="en-US" sz="1250" dirty="0">
                <a:solidFill>
                  <a:srgbClr val="15213F"/>
                </a:solidFill>
                <a:latin typeface="Roboto" pitchFamily="34" charset="0"/>
                <a:ea typeface="Roboto" pitchFamily="34" charset="-122"/>
                <a:cs typeface="Roboto" pitchFamily="34" charset="-120"/>
              </a:rPr>
              <a:t>Write complete CO-STAR prompt together (7 min)</a:t>
            </a:r>
            <a:endParaRPr lang="en-US" sz="1250" dirty="0"/>
          </a:p>
        </p:txBody>
      </p:sp>
      <p:sp>
        <p:nvSpPr>
          <p:cNvPr id="10" name="Text 8"/>
          <p:cNvSpPr/>
          <p:nvPr/>
        </p:nvSpPr>
        <p:spPr>
          <a:xfrm>
            <a:off x="1463754" y="4736783"/>
            <a:ext cx="11702772" cy="259080"/>
          </a:xfrm>
          <a:prstGeom prst="rect">
            <a:avLst/>
          </a:prstGeom>
          <a:noFill/>
          <a:ln/>
        </p:spPr>
        <p:txBody>
          <a:bodyPr wrap="none" lIns="0" tIns="0" rIns="0" bIns="0" rtlCol="0" anchor="t"/>
          <a:lstStyle/>
          <a:p>
            <a:pPr algn="l" marL="342900" indent="-342900">
              <a:lnSpc>
                <a:spcPts val="2000"/>
              </a:lnSpc>
              <a:buSzPct val="100000"/>
              <a:buFont typeface="+mj-lt"/>
              <a:buAutoNum type="arabicPeriod" startAt="3"/>
            </a:pPr>
            <a:r>
              <a:rPr lang="en-US" sz="1250" dirty="0">
                <a:solidFill>
                  <a:srgbClr val="15213F"/>
                </a:solidFill>
                <a:latin typeface="Roboto" pitchFamily="34" charset="0"/>
                <a:ea typeface="Roboto" pitchFamily="34" charset="-122"/>
                <a:cs typeface="Roboto" pitchFamily="34" charset="-120"/>
              </a:rPr>
              <a:t>One group will test in sandbox (3 min)</a:t>
            </a:r>
            <a:endParaRPr lang="en-US" sz="1250" dirty="0"/>
          </a:p>
        </p:txBody>
      </p:sp>
      <p:sp>
        <p:nvSpPr>
          <p:cNvPr id="11" name="Text 9"/>
          <p:cNvSpPr/>
          <p:nvPr/>
        </p:nvSpPr>
        <p:spPr>
          <a:xfrm>
            <a:off x="1463754" y="5177909"/>
            <a:ext cx="11702772" cy="259080"/>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Assign roles:</a:t>
            </a:r>
            <a:endParaRPr lang="en-US" sz="1250" dirty="0"/>
          </a:p>
        </p:txBody>
      </p:sp>
      <p:sp>
        <p:nvSpPr>
          <p:cNvPr id="12" name="Text 10"/>
          <p:cNvSpPr/>
          <p:nvPr/>
        </p:nvSpPr>
        <p:spPr>
          <a:xfrm>
            <a:off x="1463754" y="5619036"/>
            <a:ext cx="11702772" cy="259080"/>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Facilitator (keeps discussion on track)</a:t>
            </a:r>
            <a:endParaRPr lang="en-US" sz="1250" dirty="0"/>
          </a:p>
        </p:txBody>
      </p:sp>
      <p:sp>
        <p:nvSpPr>
          <p:cNvPr id="13" name="Text 11"/>
          <p:cNvSpPr/>
          <p:nvPr/>
        </p:nvSpPr>
        <p:spPr>
          <a:xfrm>
            <a:off x="1463754" y="5934670"/>
            <a:ext cx="11702772" cy="259080"/>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Note-taker (writes the prompt)</a:t>
            </a:r>
            <a:endParaRPr lang="en-US" sz="1250" dirty="0"/>
          </a:p>
        </p:txBody>
      </p:sp>
      <p:sp>
        <p:nvSpPr>
          <p:cNvPr id="14" name="Text 12"/>
          <p:cNvSpPr/>
          <p:nvPr/>
        </p:nvSpPr>
        <p:spPr>
          <a:xfrm>
            <a:off x="1463754" y="6250305"/>
            <a:ext cx="11702772" cy="259080"/>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Presenter (will share if selected)</a:t>
            </a:r>
            <a:endParaRPr lang="en-US" sz="1250" dirty="0"/>
          </a:p>
        </p:txBody>
      </p:sp>
      <p:sp>
        <p:nvSpPr>
          <p:cNvPr id="15" name="Text 13"/>
          <p:cNvSpPr/>
          <p:nvPr/>
        </p:nvSpPr>
        <p:spPr>
          <a:xfrm>
            <a:off x="1463754" y="6565940"/>
            <a:ext cx="11702772" cy="259080"/>
          </a:xfrm>
          <a:prstGeom prst="rect">
            <a:avLst/>
          </a:prstGeom>
          <a:noFill/>
          <a:ln/>
        </p:spPr>
        <p:txBody>
          <a:bodyPr wrap="none" lIns="0" tIns="0" rIns="0" bIns="0" rtlCol="0" anchor="t"/>
          <a:lstStyle/>
          <a:p>
            <a:pPr algn="l" marL="342900" indent="-342900">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Quality checker (ensures all 6 components covered)</a:t>
            </a:r>
            <a:endParaRPr lang="en-US" sz="1250" dirty="0"/>
          </a:p>
        </p:txBody>
      </p:sp>
      <p:sp>
        <p:nvSpPr>
          <p:cNvPr id="16" name="Text 14"/>
          <p:cNvSpPr/>
          <p:nvPr/>
        </p:nvSpPr>
        <p:spPr>
          <a:xfrm>
            <a:off x="1463754" y="7007066"/>
            <a:ext cx="11702772" cy="777240"/>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Big group activity! Groups of 3-4. You'll build a complete CO-STAR prompt for a management memo about green AI practices. Assign roles now: facilitator, note-taker, presenter, quality checker. Spend first 5 minutes discussing what each component should say, then 7 minutes writing it. One group will test their prompt in sandbox. Fifteen minutes starting... now!</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36439"/>
            <a:ext cx="7041594"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Activity 2 - Live Test &amp; Debrief</a:t>
            </a:r>
            <a:endParaRPr lang="en-US" sz="3900" dirty="0"/>
          </a:p>
        </p:txBody>
      </p:sp>
      <p:sp>
        <p:nvSpPr>
          <p:cNvPr id="3" name="Text 1"/>
          <p:cNvSpPr/>
          <p:nvPr/>
        </p:nvSpPr>
        <p:spPr>
          <a:xfrm>
            <a:off x="793790" y="1735812"/>
            <a:ext cx="5127546"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Let's Test a Group's Prompt!</a:t>
            </a:r>
            <a:endParaRPr lang="en-US" sz="3100" dirty="0"/>
          </a:p>
        </p:txBody>
      </p:sp>
      <p:sp>
        <p:nvSpPr>
          <p:cNvPr id="4" name="Text 2"/>
          <p:cNvSpPr/>
          <p:nvPr/>
        </p:nvSpPr>
        <p:spPr>
          <a:xfrm>
            <a:off x="793790" y="252960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[Selected Group]: Present your CO-STAR prompt</a:t>
            </a:r>
            <a:endParaRPr lang="en-US" sz="1550" dirty="0"/>
          </a:p>
        </p:txBody>
      </p:sp>
      <p:sp>
        <p:nvSpPr>
          <p:cNvPr id="5" name="Text 3"/>
          <p:cNvSpPr/>
          <p:nvPr/>
        </p:nvSpPr>
        <p:spPr>
          <a:xfrm>
            <a:off x="793790" y="307038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We'll test it live in sandbox and assess:</a:t>
            </a:r>
            <a:endParaRPr lang="en-US" sz="1550" dirty="0"/>
          </a:p>
        </p:txBody>
      </p:sp>
      <p:sp>
        <p:nvSpPr>
          <p:cNvPr id="6" name="Text 4"/>
          <p:cNvSpPr/>
          <p:nvPr/>
        </p:nvSpPr>
        <p:spPr>
          <a:xfrm>
            <a:off x="793790" y="3611166"/>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Did all 6 components work together?</a:t>
            </a:r>
            <a:endParaRPr lang="en-US" sz="1550" dirty="0"/>
          </a:p>
        </p:txBody>
      </p:sp>
      <p:sp>
        <p:nvSpPr>
          <p:cNvPr id="7" name="Text 5"/>
          <p:cNvSpPr/>
          <p:nvPr/>
        </p:nvSpPr>
        <p:spPr>
          <a:xfrm>
            <a:off x="793790" y="3998119"/>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Is output appropriate for audience?</a:t>
            </a:r>
            <a:endParaRPr lang="en-US" sz="1550" dirty="0"/>
          </a:p>
        </p:txBody>
      </p:sp>
      <p:sp>
        <p:nvSpPr>
          <p:cNvPr id="8" name="Text 6"/>
          <p:cNvSpPr/>
          <p:nvPr/>
        </p:nvSpPr>
        <p:spPr>
          <a:xfrm>
            <a:off x="793790" y="4385072"/>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Does style and tone match specification?</a:t>
            </a:r>
            <a:endParaRPr lang="en-US" sz="1550" dirty="0"/>
          </a:p>
        </p:txBody>
      </p:sp>
      <p:sp>
        <p:nvSpPr>
          <p:cNvPr id="9" name="Text 7"/>
          <p:cNvSpPr/>
          <p:nvPr/>
        </p:nvSpPr>
        <p:spPr>
          <a:xfrm>
            <a:off x="793790" y="4772025"/>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Is structure as requested?</a:t>
            </a:r>
            <a:endParaRPr lang="en-US" sz="1550" dirty="0"/>
          </a:p>
        </p:txBody>
      </p:sp>
      <p:sp>
        <p:nvSpPr>
          <p:cNvPr id="10" name="Text 8"/>
          <p:cNvSpPr/>
          <p:nvPr/>
        </p:nvSpPr>
        <p:spPr>
          <a:xfrm>
            <a:off x="793790" y="5158978"/>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Would this persuade management?</a:t>
            </a:r>
            <a:endParaRPr lang="en-US" sz="1550" dirty="0"/>
          </a:p>
        </p:txBody>
      </p:sp>
      <p:sp>
        <p:nvSpPr>
          <p:cNvPr id="11" name="Text 9"/>
          <p:cNvSpPr/>
          <p:nvPr/>
        </p:nvSpPr>
        <p:spPr>
          <a:xfrm>
            <a:off x="793790" y="5699760"/>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Then:</a:t>
            </a:r>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Other groups share their approaches</a:t>
            </a:r>
            <a:endParaRPr lang="en-US" sz="1550" dirty="0"/>
          </a:p>
        </p:txBody>
      </p:sp>
      <p:sp>
        <p:nvSpPr>
          <p:cNvPr id="12" name="Text 10"/>
          <p:cNvSpPr/>
          <p:nvPr/>
        </p:nvSpPr>
        <p:spPr>
          <a:xfrm>
            <a:off x="793790" y="6240542"/>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[Selected group name], come present your prompt! Read it aloud so everyone hears all six components. Then we'll test it live. [Execute in sandbox]. Let's assess together - did components work? Is this appropriate for management? Would it persuade? [Facilitate discussion, then ask 1-2 other groups to share key differences in their approach. Highlight creative solutions.]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51811" y="1011436"/>
            <a:ext cx="8251269" cy="532924"/>
          </a:xfrm>
          <a:prstGeom prst="rect">
            <a:avLst/>
          </a:prstGeom>
          <a:noFill/>
          <a:ln/>
        </p:spPr>
        <p:txBody>
          <a:bodyPr wrap="none" lIns="0" tIns="0" rIns="0" bIns="0" rtlCol="0" anchor="t"/>
          <a:lstStyle/>
          <a:p>
            <a:pPr algn="l" indent="0" marL="0">
              <a:lnSpc>
                <a:spcPts val="4150"/>
              </a:lnSpc>
              <a:buNone/>
            </a:pPr>
            <a:r>
              <a:rPr lang="en-US" sz="3350" dirty="0">
                <a:solidFill>
                  <a:srgbClr val="3257B8"/>
                </a:solidFill>
                <a:latin typeface="Roboto Slab" pitchFamily="34" charset="0"/>
                <a:ea typeface="Roboto Slab" pitchFamily="34" charset="-122"/>
                <a:cs typeface="Roboto Slab" pitchFamily="34" charset="-120"/>
              </a:rPr>
              <a:t>CO-STAR Examples for Materials Science</a:t>
            </a:r>
            <a:endParaRPr lang="en-US" sz="3350" dirty="0"/>
          </a:p>
        </p:txBody>
      </p:sp>
      <p:sp>
        <p:nvSpPr>
          <p:cNvPr id="3" name="Text 1"/>
          <p:cNvSpPr/>
          <p:nvPr/>
        </p:nvSpPr>
        <p:spPr>
          <a:xfrm>
            <a:off x="1151811" y="1612463"/>
            <a:ext cx="5827752" cy="426244"/>
          </a:xfrm>
          <a:prstGeom prst="rect">
            <a:avLst/>
          </a:prstGeom>
          <a:noFill/>
          <a:ln/>
        </p:spPr>
        <p:txBody>
          <a:bodyPr wrap="none" lIns="0" tIns="0" rIns="0" bIns="0" rtlCol="0" anchor="t"/>
          <a:lstStyle/>
          <a:p>
            <a:pPr algn="l" indent="0" marL="0">
              <a:lnSpc>
                <a:spcPts val="3350"/>
              </a:lnSpc>
              <a:buNone/>
            </a:pPr>
            <a:r>
              <a:rPr lang="en-US" sz="2650" dirty="0">
                <a:solidFill>
                  <a:srgbClr val="3257B8"/>
                </a:solidFill>
                <a:latin typeface="Roboto Slab" pitchFamily="34" charset="0"/>
                <a:ea typeface="Roboto Slab" pitchFamily="34" charset="-122"/>
                <a:cs typeface="Roboto Slab" pitchFamily="34" charset="-120"/>
              </a:rPr>
              <a:t>CO-STAR Quick Reference Examples</a:t>
            </a:r>
            <a:endParaRPr lang="en-US" sz="2650" dirty="0"/>
          </a:p>
        </p:txBody>
      </p:sp>
      <p:sp>
        <p:nvSpPr>
          <p:cNvPr id="4" name="Shape 2"/>
          <p:cNvSpPr/>
          <p:nvPr/>
        </p:nvSpPr>
        <p:spPr>
          <a:xfrm>
            <a:off x="1151811" y="2294453"/>
            <a:ext cx="3995142" cy="3448883"/>
          </a:xfrm>
          <a:prstGeom prst="roundRect">
            <a:avLst>
              <a:gd name="adj" fmla="val 742"/>
            </a:avLst>
          </a:prstGeom>
          <a:solidFill>
            <a:srgbClr val="FBFCFE"/>
          </a:solidFill>
          <a:ln w="22860">
            <a:solidFill>
              <a:srgbClr val="CFD2D8"/>
            </a:solidFill>
            <a:prstDash val="solid"/>
          </a:ln>
        </p:spPr>
      </p:sp>
      <p:sp>
        <p:nvSpPr>
          <p:cNvPr id="5" name="Text 3"/>
          <p:cNvSpPr/>
          <p:nvPr/>
        </p:nvSpPr>
        <p:spPr>
          <a:xfrm>
            <a:off x="1345168" y="2487811"/>
            <a:ext cx="3211711" cy="266343"/>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Scenario 1: Journal Introduction</a:t>
            </a:r>
            <a:endParaRPr lang="en-US" sz="1650" dirty="0"/>
          </a:p>
        </p:txBody>
      </p:sp>
      <p:sp>
        <p:nvSpPr>
          <p:cNvPr id="6" name="Text 4"/>
          <p:cNvSpPr/>
          <p:nvPr/>
        </p:nvSpPr>
        <p:spPr>
          <a:xfrm>
            <a:off x="1345168" y="2856428"/>
            <a:ext cx="3608427" cy="545544"/>
          </a:xfrm>
          <a:prstGeom prst="rect">
            <a:avLst/>
          </a:prstGeom>
          <a:noFill/>
          <a:ln/>
        </p:spPr>
        <p:txBody>
          <a:bodyPr wrap="squar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C:</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Manuscript on PLA/graphene for Polymer journal</a:t>
            </a:r>
            <a:endParaRPr lang="en-US" sz="1300" dirty="0"/>
          </a:p>
        </p:txBody>
      </p:sp>
      <p:sp>
        <p:nvSpPr>
          <p:cNvPr id="7" name="Text 5"/>
          <p:cNvSpPr/>
          <p:nvPr/>
        </p:nvSpPr>
        <p:spPr>
          <a:xfrm>
            <a:off x="1345168" y="3504248"/>
            <a:ext cx="3608427" cy="272772"/>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O:</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Establish research gap justifying our study</a:t>
            </a:r>
            <a:endParaRPr lang="en-US" sz="1300" dirty="0"/>
          </a:p>
        </p:txBody>
      </p:sp>
      <p:sp>
        <p:nvSpPr>
          <p:cNvPr id="8" name="Text 6"/>
          <p:cNvSpPr/>
          <p:nvPr/>
        </p:nvSpPr>
        <p:spPr>
          <a:xfrm>
            <a:off x="1345168" y="3879294"/>
            <a:ext cx="3608427" cy="272772"/>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S:</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Academic synthesis (not exhaustive listing)</a:t>
            </a:r>
            <a:endParaRPr lang="en-US" sz="1300" dirty="0"/>
          </a:p>
        </p:txBody>
      </p:sp>
      <p:sp>
        <p:nvSpPr>
          <p:cNvPr id="9" name="Text 7"/>
          <p:cNvSpPr/>
          <p:nvPr/>
        </p:nvSpPr>
        <p:spPr>
          <a:xfrm>
            <a:off x="1345168" y="4254341"/>
            <a:ext cx="3608427" cy="272772"/>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T:</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Authoritative but respectful of prior work</a:t>
            </a:r>
            <a:endParaRPr lang="en-US" sz="1300" dirty="0"/>
          </a:p>
        </p:txBody>
      </p:sp>
      <p:sp>
        <p:nvSpPr>
          <p:cNvPr id="10" name="Text 8"/>
          <p:cNvSpPr/>
          <p:nvPr/>
        </p:nvSpPr>
        <p:spPr>
          <a:xfrm>
            <a:off x="1345168" y="4629388"/>
            <a:ext cx="3608427" cy="272772"/>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A:</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Polymer scientists reviewing for publication</a:t>
            </a:r>
            <a:endParaRPr lang="en-US" sz="1300" dirty="0"/>
          </a:p>
        </p:txBody>
      </p:sp>
      <p:sp>
        <p:nvSpPr>
          <p:cNvPr id="11" name="Text 9"/>
          <p:cNvSpPr/>
          <p:nvPr/>
        </p:nvSpPr>
        <p:spPr>
          <a:xfrm>
            <a:off x="1345168" y="5004435"/>
            <a:ext cx="3608427" cy="545544"/>
          </a:xfrm>
          <a:prstGeom prst="rect">
            <a:avLst/>
          </a:prstGeom>
          <a:noFill/>
          <a:ln/>
        </p:spPr>
        <p:txBody>
          <a:bodyPr wrap="squar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R:</a:t>
            </a:r>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4 paragraphs (~1000 words), specific structure</a:t>
            </a:r>
            <a:endParaRPr lang="en-US" sz="1300" dirty="0"/>
          </a:p>
        </p:txBody>
      </p:sp>
      <p:sp>
        <p:nvSpPr>
          <p:cNvPr id="12" name="Shape 10"/>
          <p:cNvSpPr/>
          <p:nvPr/>
        </p:nvSpPr>
        <p:spPr>
          <a:xfrm>
            <a:off x="5317450" y="2294453"/>
            <a:ext cx="3995261" cy="3448883"/>
          </a:xfrm>
          <a:prstGeom prst="roundRect">
            <a:avLst>
              <a:gd name="adj" fmla="val 742"/>
            </a:avLst>
          </a:prstGeom>
          <a:solidFill>
            <a:srgbClr val="FBFCFE"/>
          </a:solidFill>
          <a:ln w="22860">
            <a:solidFill>
              <a:srgbClr val="CFD2D8"/>
            </a:solidFill>
            <a:prstDash val="solid"/>
          </a:ln>
        </p:spPr>
      </p:sp>
      <p:sp>
        <p:nvSpPr>
          <p:cNvPr id="13" name="Text 11"/>
          <p:cNvSpPr/>
          <p:nvPr/>
        </p:nvSpPr>
        <p:spPr>
          <a:xfrm>
            <a:off x="5510808" y="2487811"/>
            <a:ext cx="2734628" cy="266343"/>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Scenario 2: Patent Analysis</a:t>
            </a:r>
            <a:endParaRPr lang="en-US" sz="1650" dirty="0"/>
          </a:p>
        </p:txBody>
      </p:sp>
      <p:sp>
        <p:nvSpPr>
          <p:cNvPr id="14" name="Text 12"/>
          <p:cNvSpPr/>
          <p:nvPr/>
        </p:nvSpPr>
        <p:spPr>
          <a:xfrm>
            <a:off x="5510808" y="2856428"/>
            <a:ext cx="3608546" cy="272772"/>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[Brief example]</a:t>
            </a:r>
            <a:endParaRPr lang="en-US" sz="1300" dirty="0"/>
          </a:p>
        </p:txBody>
      </p:sp>
      <p:sp>
        <p:nvSpPr>
          <p:cNvPr id="15" name="Shape 13"/>
          <p:cNvSpPr/>
          <p:nvPr/>
        </p:nvSpPr>
        <p:spPr>
          <a:xfrm>
            <a:off x="9483209" y="2294453"/>
            <a:ext cx="3995261" cy="3448883"/>
          </a:xfrm>
          <a:prstGeom prst="roundRect">
            <a:avLst>
              <a:gd name="adj" fmla="val 742"/>
            </a:avLst>
          </a:prstGeom>
          <a:solidFill>
            <a:srgbClr val="FBFCFE"/>
          </a:solidFill>
          <a:ln w="22860">
            <a:solidFill>
              <a:srgbClr val="CFD2D8"/>
            </a:solidFill>
            <a:prstDash val="solid"/>
          </a:ln>
        </p:spPr>
      </p:sp>
      <p:sp>
        <p:nvSpPr>
          <p:cNvPr id="16" name="Text 14"/>
          <p:cNvSpPr/>
          <p:nvPr/>
        </p:nvSpPr>
        <p:spPr>
          <a:xfrm>
            <a:off x="9676567" y="2487811"/>
            <a:ext cx="2542699" cy="266343"/>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Scenario 3: Investor Pitch</a:t>
            </a:r>
            <a:endParaRPr lang="en-US" sz="1650" dirty="0"/>
          </a:p>
        </p:txBody>
      </p:sp>
      <p:sp>
        <p:nvSpPr>
          <p:cNvPr id="17" name="Text 15"/>
          <p:cNvSpPr/>
          <p:nvPr/>
        </p:nvSpPr>
        <p:spPr>
          <a:xfrm>
            <a:off x="9676567" y="2856428"/>
            <a:ext cx="3608546" cy="272772"/>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[Brief example]</a:t>
            </a:r>
            <a:endParaRPr lang="en-US" sz="1300" dirty="0"/>
          </a:p>
        </p:txBody>
      </p:sp>
      <p:sp>
        <p:nvSpPr>
          <p:cNvPr id="18" name="Text 16"/>
          <p:cNvSpPr/>
          <p:nvPr/>
        </p:nvSpPr>
        <p:spPr>
          <a:xfrm>
            <a:off x="1151811" y="5935147"/>
            <a:ext cx="12326660" cy="272772"/>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a:t>
            </a:r>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Save these as templates!</a:t>
            </a:r>
            <a:endParaRPr lang="en-US" sz="1300" dirty="0"/>
          </a:p>
        </p:txBody>
      </p:sp>
      <p:sp>
        <p:nvSpPr>
          <p:cNvPr id="19" name="Text 17"/>
          <p:cNvSpPr/>
          <p:nvPr/>
        </p:nvSpPr>
        <p:spPr>
          <a:xfrm>
            <a:off x="1151811" y="6399728"/>
            <a:ext cx="12326660" cy="818317"/>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Here are three CO-STAR templates for common materials science scenarios. Journal introduction, patent analysis, investor pitch. Each shows all six components. These are starting points - customise for your specific needs. Save these as templates for recurring tasks. Notice how audience changes everything - journal reviewers vs investors need completely different approaches.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3211949"/>
            <a:ext cx="13042821" cy="1860590"/>
          </a:xfrm>
          <a:prstGeom prst="rect">
            <a:avLst/>
          </a:prstGeom>
          <a:noFill/>
          <a:ln/>
        </p:spPr>
        <p:txBody>
          <a:bodyPr wrap="none" lIns="0" tIns="0" rIns="0" bIns="0" rtlCol="0" anchor="t"/>
          <a:lstStyle/>
          <a:p>
            <a:pPr algn="l" indent="0" marL="0">
              <a:lnSpc>
                <a:spcPts val="14650"/>
              </a:lnSpc>
              <a:buNone/>
            </a:pPr>
            <a:r>
              <a:rPr lang="en-US" sz="11700" dirty="0">
                <a:solidFill>
                  <a:srgbClr val="3257B8"/>
                </a:solidFill>
                <a:latin typeface="Roboto Slab" pitchFamily="34" charset="0"/>
                <a:ea typeface="Roboto Slab" pitchFamily="34" charset="-122"/>
                <a:cs typeface="Roboto Slab" pitchFamily="34" charset="-120"/>
              </a:rPr>
              <a:t>PART 3</a:t>
            </a:r>
            <a:endParaRPr lang="en-US" sz="11700" dirty="0"/>
          </a:p>
        </p:txBody>
      </p:sp>
      <p:sp>
        <p:nvSpPr>
          <p:cNvPr id="4" name="Text 1"/>
          <p:cNvSpPr/>
          <p:nvPr/>
        </p:nvSpPr>
        <p:spPr>
          <a:xfrm>
            <a:off x="793790" y="5370195"/>
            <a:ext cx="8043624"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Advanced Hallucination Detection</a:t>
            </a:r>
            <a:endParaRPr lang="en-US" sz="3900" dirty="0"/>
          </a:p>
        </p:txBody>
      </p:sp>
      <p:sp>
        <p:nvSpPr>
          <p:cNvPr id="5" name="Text 2"/>
          <p:cNvSpPr/>
          <p:nvPr/>
        </p:nvSpPr>
        <p:spPr>
          <a:xfrm>
            <a:off x="793790" y="6069568"/>
            <a:ext cx="6959203"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Making verification fun &amp; systematic</a:t>
            </a:r>
            <a:endParaRPr lang="en-US" sz="3100" dirty="0"/>
          </a:p>
        </p:txBody>
      </p:sp>
      <p:sp>
        <p:nvSpPr>
          <p:cNvPr id="6" name="Text 3"/>
          <p:cNvSpPr/>
          <p:nvPr/>
        </p:nvSpPr>
        <p:spPr>
          <a:xfrm>
            <a:off x="793790" y="686335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Part 3: Advanced Hallucination Detection. Yesterday you learnt basics. Today we make it competitive and fun. You'll work in teams to find errors in AI-generated content. Fastest team wins bragging rights. But more importantly, you'll develop systematic verification instincts.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5098" y="541377"/>
            <a:ext cx="10612874" cy="613410"/>
          </a:xfrm>
          <a:prstGeom prst="rect">
            <a:avLst/>
          </a:prstGeom>
          <a:noFill/>
          <a:ln/>
        </p:spPr>
        <p:txBody>
          <a:bodyPr wrap="none" lIns="0" tIns="0" rIns="0" bIns="0" rtlCol="0" anchor="t"/>
          <a:lstStyle/>
          <a:p>
            <a:pPr algn="l" indent="0" marL="0">
              <a:lnSpc>
                <a:spcPts val="4800"/>
              </a:lnSpc>
              <a:buNone/>
            </a:pPr>
            <a:r>
              <a:rPr lang="en-US" sz="3850" dirty="0">
                <a:solidFill>
                  <a:srgbClr val="3257B8"/>
                </a:solidFill>
                <a:latin typeface="Roboto Slab" pitchFamily="34" charset="0"/>
                <a:ea typeface="Roboto Slab" pitchFamily="34" charset="-122"/>
                <a:cs typeface="Roboto Slab" pitchFamily="34" charset="-120"/>
              </a:rPr>
              <a:t>The Hallucination Hunt - Tournament Format</a:t>
            </a:r>
            <a:endParaRPr lang="en-US" sz="3850" dirty="0"/>
          </a:p>
        </p:txBody>
      </p:sp>
      <p:sp>
        <p:nvSpPr>
          <p:cNvPr id="3" name="Text 1"/>
          <p:cNvSpPr/>
          <p:nvPr/>
        </p:nvSpPr>
        <p:spPr>
          <a:xfrm>
            <a:off x="785098" y="1449110"/>
            <a:ext cx="12646581" cy="846534"/>
          </a:xfrm>
          <a:prstGeom prst="rect">
            <a:avLst/>
          </a:prstGeom>
          <a:noFill/>
          <a:ln/>
        </p:spPr>
        <p:txBody>
          <a:bodyPr wrap="none" lIns="0" tIns="0" rIns="0" bIns="0" rtlCol="0" anchor="t"/>
          <a:lstStyle/>
          <a:p>
            <a:pPr algn="l" indent="0" marL="0">
              <a:lnSpc>
                <a:spcPts val="6650"/>
              </a:lnSpc>
              <a:buNone/>
            </a:pPr>
            <a:r>
              <a:rPr lang="en-US" sz="5300" dirty="0">
                <a:solidFill>
                  <a:srgbClr val="3257B8"/>
                </a:solidFill>
                <a:latin typeface="Roboto Slab" pitchFamily="34" charset="0"/>
                <a:ea typeface="Roboto Slab" pitchFamily="34" charset="-122"/>
                <a:cs typeface="Roboto Slab" pitchFamily="34" charset="-120"/>
              </a:rPr>
              <a:t>COMPETITIVE HALLUCINATION HUNT</a:t>
            </a:r>
            <a:endParaRPr lang="en-US" sz="5300" dirty="0"/>
          </a:p>
        </p:txBody>
      </p:sp>
      <p:sp>
        <p:nvSpPr>
          <p:cNvPr id="4" name="Text 2"/>
          <p:cNvSpPr/>
          <p:nvPr/>
        </p:nvSpPr>
        <p:spPr>
          <a:xfrm>
            <a:off x="785098" y="2589967"/>
            <a:ext cx="5793224" cy="490657"/>
          </a:xfrm>
          <a:prstGeom prst="rect">
            <a:avLst/>
          </a:prstGeom>
          <a:noFill/>
          <a:ln/>
        </p:spPr>
        <p:txBody>
          <a:bodyPr wrap="none" lIns="0" tIns="0" rIns="0" bIns="0" rtlCol="0" anchor="t"/>
          <a:lstStyle/>
          <a:p>
            <a:pPr algn="l" indent="0" marL="0">
              <a:lnSpc>
                <a:spcPts val="3850"/>
              </a:lnSpc>
              <a:buNone/>
            </a:pPr>
            <a:r>
              <a:rPr lang="en-US" sz="3050" dirty="0">
                <a:solidFill>
                  <a:srgbClr val="3257B8"/>
                </a:solidFill>
                <a:latin typeface="Roboto Slab" pitchFamily="34" charset="0"/>
                <a:ea typeface="Roboto Slab" pitchFamily="34" charset="-122"/>
                <a:cs typeface="Roboto Slab" pitchFamily="34" charset="-120"/>
              </a:rPr>
              <a:t>Format: 3 Rounds, Teams of 3-4</a:t>
            </a:r>
            <a:endParaRPr lang="en-US" sz="3050" dirty="0"/>
          </a:p>
        </p:txBody>
      </p:sp>
      <p:sp>
        <p:nvSpPr>
          <p:cNvPr id="5" name="Shape 3"/>
          <p:cNvSpPr/>
          <p:nvPr/>
        </p:nvSpPr>
        <p:spPr>
          <a:xfrm>
            <a:off x="785098" y="3374946"/>
            <a:ext cx="4222552" cy="2615446"/>
          </a:xfrm>
          <a:prstGeom prst="roundRect">
            <a:avLst>
              <a:gd name="adj" fmla="val 1126"/>
            </a:avLst>
          </a:prstGeom>
          <a:solidFill>
            <a:srgbClr val="E9ECF2"/>
          </a:solidFill>
          <a:ln/>
        </p:spPr>
      </p:sp>
      <p:sp>
        <p:nvSpPr>
          <p:cNvPr id="6" name="Text 4"/>
          <p:cNvSpPr/>
          <p:nvPr/>
        </p:nvSpPr>
        <p:spPr>
          <a:xfrm>
            <a:off x="981313" y="3571161"/>
            <a:ext cx="3830122" cy="613410"/>
          </a:xfrm>
          <a:prstGeom prst="rect">
            <a:avLst/>
          </a:prstGeom>
          <a:noFill/>
          <a:ln/>
        </p:spPr>
        <p:txBody>
          <a:bodyPr wrap="square" lIns="0" tIns="0" rIns="0" bIns="0" rtlCol="0" anchor="t"/>
          <a:lstStyle/>
          <a:p>
            <a:pPr algn="l" indent="0" marL="0">
              <a:lnSpc>
                <a:spcPts val="2400"/>
              </a:lnSpc>
              <a:buNone/>
            </a:pPr>
            <a:r>
              <a:rPr lang="en-US" sz="1900" dirty="0">
                <a:solidFill>
                  <a:srgbClr val="15213F"/>
                </a:solidFill>
                <a:latin typeface="Roboto Slab" pitchFamily="34" charset="0"/>
                <a:ea typeface="Roboto Slab" pitchFamily="34" charset="-122"/>
                <a:cs typeface="Roboto Slab" pitchFamily="34" charset="-120"/>
              </a:rPr>
              <a:t>Round 1: The Warm-Up (5 minutes)</a:t>
            </a:r>
            <a:endParaRPr lang="en-US" sz="1900" dirty="0"/>
          </a:p>
        </p:txBody>
      </p:sp>
      <p:sp>
        <p:nvSpPr>
          <p:cNvPr id="7" name="Text 5"/>
          <p:cNvSpPr/>
          <p:nvPr/>
        </p:nvSpPr>
        <p:spPr>
          <a:xfrm>
            <a:off x="981313" y="4302323"/>
            <a:ext cx="3830122" cy="314087"/>
          </a:xfrm>
          <a:prstGeom prst="rect">
            <a:avLst/>
          </a:prstGeom>
          <a:noFill/>
          <a:ln/>
        </p:spPr>
        <p:txBody>
          <a:bodyPr wrap="non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Find 3 obvious errors in synthesis report</a:t>
            </a:r>
            <a:endParaRPr lang="en-US" sz="1500" dirty="0"/>
          </a:p>
        </p:txBody>
      </p:sp>
      <p:sp>
        <p:nvSpPr>
          <p:cNvPr id="8" name="Text 6"/>
          <p:cNvSpPr/>
          <p:nvPr/>
        </p:nvSpPr>
        <p:spPr>
          <a:xfrm>
            <a:off x="981313" y="4734163"/>
            <a:ext cx="3830122" cy="314087"/>
          </a:xfrm>
          <a:prstGeom prst="rect">
            <a:avLst/>
          </a:prstGeom>
          <a:noFill/>
          <a:ln/>
        </p:spPr>
        <p:txBody>
          <a:bodyPr wrap="non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 10 points per correct identification</a:t>
            </a:r>
            <a:endParaRPr lang="en-US" sz="1500" dirty="0"/>
          </a:p>
        </p:txBody>
      </p:sp>
      <p:sp>
        <p:nvSpPr>
          <p:cNvPr id="9" name="Shape 7"/>
          <p:cNvSpPr/>
          <p:nvPr/>
        </p:nvSpPr>
        <p:spPr>
          <a:xfrm>
            <a:off x="5203865" y="3374946"/>
            <a:ext cx="4222552" cy="2615446"/>
          </a:xfrm>
          <a:prstGeom prst="roundRect">
            <a:avLst>
              <a:gd name="adj" fmla="val 1126"/>
            </a:avLst>
          </a:prstGeom>
          <a:solidFill>
            <a:srgbClr val="E9ECF2"/>
          </a:solidFill>
          <a:ln/>
        </p:spPr>
      </p:sp>
      <p:sp>
        <p:nvSpPr>
          <p:cNvPr id="10" name="Text 8"/>
          <p:cNvSpPr/>
          <p:nvPr/>
        </p:nvSpPr>
        <p:spPr>
          <a:xfrm>
            <a:off x="5400080" y="3571161"/>
            <a:ext cx="3830122" cy="613410"/>
          </a:xfrm>
          <a:prstGeom prst="rect">
            <a:avLst/>
          </a:prstGeom>
          <a:noFill/>
          <a:ln/>
        </p:spPr>
        <p:txBody>
          <a:bodyPr wrap="square" lIns="0" tIns="0" rIns="0" bIns="0" rtlCol="0" anchor="t"/>
          <a:lstStyle/>
          <a:p>
            <a:pPr algn="l" indent="0" marL="0">
              <a:lnSpc>
                <a:spcPts val="2400"/>
              </a:lnSpc>
              <a:buNone/>
            </a:pPr>
            <a:r>
              <a:rPr lang="en-US" sz="1900" dirty="0">
                <a:solidFill>
                  <a:srgbClr val="15213F"/>
                </a:solidFill>
                <a:latin typeface="Roboto Slab" pitchFamily="34" charset="0"/>
                <a:ea typeface="Roboto Slab" pitchFamily="34" charset="-122"/>
                <a:cs typeface="Roboto Slab" pitchFamily="34" charset="-120"/>
              </a:rPr>
              <a:t>Round 2: The Challenge (8 minutes)</a:t>
            </a:r>
            <a:endParaRPr lang="en-US" sz="1900" dirty="0"/>
          </a:p>
        </p:txBody>
      </p:sp>
      <p:sp>
        <p:nvSpPr>
          <p:cNvPr id="11" name="Text 9"/>
          <p:cNvSpPr/>
          <p:nvPr/>
        </p:nvSpPr>
        <p:spPr>
          <a:xfrm>
            <a:off x="5400080" y="4302323"/>
            <a:ext cx="3830122" cy="628174"/>
          </a:xfrm>
          <a:prstGeom prst="rect">
            <a:avLst/>
          </a:prstGeom>
          <a:noFill/>
          <a:ln/>
        </p:spPr>
        <p:txBody>
          <a:bodyPr wrap="squar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Find 5 subtle errors in characterisation report</a:t>
            </a:r>
            <a:endParaRPr lang="en-US" sz="1500" dirty="0"/>
          </a:p>
        </p:txBody>
      </p:sp>
      <p:sp>
        <p:nvSpPr>
          <p:cNvPr id="12" name="Text 10"/>
          <p:cNvSpPr/>
          <p:nvPr/>
        </p:nvSpPr>
        <p:spPr>
          <a:xfrm>
            <a:off x="5400080" y="5048250"/>
            <a:ext cx="3830122" cy="314087"/>
          </a:xfrm>
          <a:prstGeom prst="rect">
            <a:avLst/>
          </a:prstGeom>
          <a:noFill/>
          <a:ln/>
        </p:spPr>
        <p:txBody>
          <a:bodyPr wrap="non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 20 points per correct identification</a:t>
            </a:r>
            <a:endParaRPr lang="en-US" sz="1500" dirty="0"/>
          </a:p>
        </p:txBody>
      </p:sp>
      <p:sp>
        <p:nvSpPr>
          <p:cNvPr id="13" name="Text 11"/>
          <p:cNvSpPr/>
          <p:nvPr/>
        </p:nvSpPr>
        <p:spPr>
          <a:xfrm>
            <a:off x="5400080" y="5480090"/>
            <a:ext cx="3830122" cy="314087"/>
          </a:xfrm>
          <a:prstGeom prst="rect">
            <a:avLst/>
          </a:prstGeom>
          <a:noFill/>
          <a:ln/>
        </p:spPr>
        <p:txBody>
          <a:bodyPr wrap="non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 Bonus: +10 for best explanation</a:t>
            </a:r>
            <a:endParaRPr lang="en-US" sz="1500" dirty="0"/>
          </a:p>
        </p:txBody>
      </p:sp>
      <p:sp>
        <p:nvSpPr>
          <p:cNvPr id="14" name="Shape 12"/>
          <p:cNvSpPr/>
          <p:nvPr/>
        </p:nvSpPr>
        <p:spPr>
          <a:xfrm>
            <a:off x="9622631" y="3374946"/>
            <a:ext cx="4222671" cy="2615446"/>
          </a:xfrm>
          <a:prstGeom prst="roundRect">
            <a:avLst>
              <a:gd name="adj" fmla="val 1126"/>
            </a:avLst>
          </a:prstGeom>
          <a:solidFill>
            <a:srgbClr val="E9ECF2"/>
          </a:solidFill>
          <a:ln/>
        </p:spPr>
      </p:sp>
      <p:sp>
        <p:nvSpPr>
          <p:cNvPr id="15" name="Text 13"/>
          <p:cNvSpPr/>
          <p:nvPr/>
        </p:nvSpPr>
        <p:spPr>
          <a:xfrm>
            <a:off x="9818846" y="3571161"/>
            <a:ext cx="3830241" cy="613410"/>
          </a:xfrm>
          <a:prstGeom prst="rect">
            <a:avLst/>
          </a:prstGeom>
          <a:noFill/>
          <a:ln/>
        </p:spPr>
        <p:txBody>
          <a:bodyPr wrap="square" lIns="0" tIns="0" rIns="0" bIns="0" rtlCol="0" anchor="t"/>
          <a:lstStyle/>
          <a:p>
            <a:pPr algn="l" indent="0" marL="0">
              <a:lnSpc>
                <a:spcPts val="2400"/>
              </a:lnSpc>
              <a:buNone/>
            </a:pPr>
            <a:r>
              <a:rPr lang="en-US" sz="1900" dirty="0">
                <a:solidFill>
                  <a:srgbClr val="15213F"/>
                </a:solidFill>
                <a:latin typeface="Roboto Slab" pitchFamily="34" charset="0"/>
                <a:ea typeface="Roboto Slab" pitchFamily="34" charset="-122"/>
                <a:cs typeface="Roboto Slab" pitchFamily="34" charset="-120"/>
              </a:rPr>
              <a:t>Round 3: Speed Round (5 minutes)</a:t>
            </a:r>
            <a:endParaRPr lang="en-US" sz="1900" dirty="0"/>
          </a:p>
        </p:txBody>
      </p:sp>
      <p:sp>
        <p:nvSpPr>
          <p:cNvPr id="16" name="Text 14"/>
          <p:cNvSpPr/>
          <p:nvPr/>
        </p:nvSpPr>
        <p:spPr>
          <a:xfrm>
            <a:off x="9818846" y="4302323"/>
            <a:ext cx="3830241" cy="314087"/>
          </a:xfrm>
          <a:prstGeom prst="rect">
            <a:avLst/>
          </a:prstGeom>
          <a:noFill/>
          <a:ln/>
        </p:spPr>
        <p:txBody>
          <a:bodyPr wrap="non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Multiple short texts, rapid-fire error spotting</a:t>
            </a:r>
            <a:endParaRPr lang="en-US" sz="1500" dirty="0"/>
          </a:p>
        </p:txBody>
      </p:sp>
      <p:sp>
        <p:nvSpPr>
          <p:cNvPr id="17" name="Text 15"/>
          <p:cNvSpPr/>
          <p:nvPr/>
        </p:nvSpPr>
        <p:spPr>
          <a:xfrm>
            <a:off x="9818846" y="4734163"/>
            <a:ext cx="3830241" cy="314087"/>
          </a:xfrm>
          <a:prstGeom prst="rect">
            <a:avLst/>
          </a:prstGeom>
          <a:noFill/>
          <a:ln/>
        </p:spPr>
        <p:txBody>
          <a:bodyPr wrap="non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 15 points per correct identification</a:t>
            </a:r>
            <a:endParaRPr lang="en-US" sz="1500" dirty="0"/>
          </a:p>
        </p:txBody>
      </p:sp>
      <p:sp>
        <p:nvSpPr>
          <p:cNvPr id="18" name="Text 16"/>
          <p:cNvSpPr/>
          <p:nvPr/>
        </p:nvSpPr>
        <p:spPr>
          <a:xfrm>
            <a:off x="9818846" y="5166003"/>
            <a:ext cx="3830241" cy="314087"/>
          </a:xfrm>
          <a:prstGeom prst="rect">
            <a:avLst/>
          </a:prstGeom>
          <a:noFill/>
          <a:ln/>
        </p:spPr>
        <p:txBody>
          <a:bodyPr wrap="non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 Speed bonus: +20 for first team finished</a:t>
            </a:r>
            <a:endParaRPr lang="en-US" sz="1500" dirty="0"/>
          </a:p>
        </p:txBody>
      </p:sp>
      <p:sp>
        <p:nvSpPr>
          <p:cNvPr id="19" name="Text 17"/>
          <p:cNvSpPr/>
          <p:nvPr/>
        </p:nvSpPr>
        <p:spPr>
          <a:xfrm>
            <a:off x="785098" y="6211133"/>
            <a:ext cx="13060204" cy="314087"/>
          </a:xfrm>
          <a:prstGeom prst="rect">
            <a:avLst/>
          </a:prstGeom>
          <a:noFill/>
          <a:ln/>
        </p:spPr>
        <p:txBody>
          <a:bodyPr wrap="none" lIns="0" tIns="0" rIns="0" bIns="0" rtlCol="0" anchor="t"/>
          <a:lstStyle/>
          <a:p>
            <a:pPr algn="l" indent="0" marL="0">
              <a:lnSpc>
                <a:spcPts val="2450"/>
              </a:lnSpc>
              <a:buNone/>
            </a:pPr>
            <a:r>
              <a:rPr lang="en-US" sz="1500" b="1" dirty="0">
                <a:solidFill>
                  <a:srgbClr val="15213F"/>
                </a:solidFill>
                <a:latin typeface="Roboto" pitchFamily="34" charset="0"/>
                <a:ea typeface="Roboto" pitchFamily="34" charset="-122"/>
                <a:cs typeface="Roboto" pitchFamily="34" charset="-120"/>
              </a:rPr>
              <a:t>Top team wins: "Eagle Eye" badge</a:t>
            </a:r>
            <a:endParaRPr lang="en-US" sz="1500" dirty="0"/>
          </a:p>
        </p:txBody>
      </p:sp>
      <p:sp>
        <p:nvSpPr>
          <p:cNvPr id="20" name="Text 18"/>
          <p:cNvSpPr/>
          <p:nvPr/>
        </p:nvSpPr>
        <p:spPr>
          <a:xfrm>
            <a:off x="785098" y="6745962"/>
            <a:ext cx="13060204" cy="942261"/>
          </a:xfrm>
          <a:prstGeom prst="rect">
            <a:avLst/>
          </a:prstGeom>
          <a:noFill/>
          <a:ln/>
        </p:spPr>
        <p:txBody>
          <a:bodyPr wrap="square" lIns="0" tIns="0" rIns="0" bIns="0" rtlCol="0" anchor="t"/>
          <a:lstStyle/>
          <a:p>
            <a:pPr algn="l" indent="0" marL="0">
              <a:lnSpc>
                <a:spcPts val="2450"/>
              </a:lnSpc>
              <a:buNone/>
            </a:pPr>
            <a:r>
              <a:rPr lang="en-US" sz="1500" dirty="0">
                <a:solidFill>
                  <a:srgbClr val="15213F"/>
                </a:solidFill>
                <a:latin typeface="Roboto" pitchFamily="34" charset="0"/>
                <a:ea typeface="Roboto" pitchFamily="34" charset="-122"/>
                <a:cs typeface="Roboto" pitchFamily="34" charset="-120"/>
              </a:rPr>
              <a:t>Hallucination Hunt tournament! Three rounds of increasing difficulty. Teams of 3-4 compete to find errors fastest with best explanations. Round 1 warm-up with obvious errors. Round 2 challenges with subtle mistakes. Round 3 speed round. Points accumulate. Highest score wins Eagle Eye badge. Questions on rules? Form teams now!</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364933" y="452676"/>
            <a:ext cx="4685824" cy="514469"/>
          </a:xfrm>
          <a:prstGeom prst="rect">
            <a:avLst/>
          </a:prstGeom>
          <a:noFill/>
          <a:ln/>
        </p:spPr>
        <p:txBody>
          <a:bodyPr wrap="none" lIns="0" tIns="0" rIns="0" bIns="0" rtlCol="0" anchor="t"/>
          <a:lstStyle/>
          <a:p>
            <a:pPr algn="l" indent="0" marL="0">
              <a:lnSpc>
                <a:spcPts val="4050"/>
              </a:lnSpc>
              <a:buNone/>
            </a:pPr>
            <a:r>
              <a:rPr lang="en-US" sz="3200" dirty="0">
                <a:solidFill>
                  <a:srgbClr val="3257B8"/>
                </a:solidFill>
                <a:latin typeface="Roboto Slab" pitchFamily="34" charset="0"/>
                <a:ea typeface="Roboto Slab" pitchFamily="34" charset="-122"/>
                <a:cs typeface="Roboto Slab" pitchFamily="34" charset="-120"/>
              </a:rPr>
              <a:t>Round 1 - The Warm-Up</a:t>
            </a:r>
            <a:endParaRPr lang="en-US" sz="3200" dirty="0"/>
          </a:p>
        </p:txBody>
      </p:sp>
      <p:sp>
        <p:nvSpPr>
          <p:cNvPr id="3" name="Text 1"/>
          <p:cNvSpPr/>
          <p:nvPr/>
        </p:nvSpPr>
        <p:spPr>
          <a:xfrm>
            <a:off x="1364933" y="1214080"/>
            <a:ext cx="9932432" cy="1028938"/>
          </a:xfrm>
          <a:prstGeom prst="rect">
            <a:avLst/>
          </a:prstGeom>
          <a:noFill/>
          <a:ln/>
        </p:spPr>
        <p:txBody>
          <a:bodyPr wrap="none" lIns="0" tIns="0" rIns="0" bIns="0" rtlCol="0" anchor="t"/>
          <a:lstStyle/>
          <a:p>
            <a:pPr algn="l" indent="0" marL="0">
              <a:lnSpc>
                <a:spcPts val="8100"/>
              </a:lnSpc>
              <a:buNone/>
            </a:pPr>
            <a:r>
              <a:rPr lang="en-US" sz="6450" dirty="0">
                <a:solidFill>
                  <a:srgbClr val="3257B8"/>
                </a:solidFill>
                <a:latin typeface="Roboto Slab" pitchFamily="34" charset="0"/>
                <a:ea typeface="Roboto Slab" pitchFamily="34" charset="-122"/>
                <a:cs typeface="Roboto Slab" pitchFamily="34" charset="-120"/>
              </a:rPr>
              <a:t>ROUND 1: THE WARM-UP</a:t>
            </a:r>
            <a:endParaRPr lang="en-US" sz="6450" dirty="0"/>
          </a:p>
        </p:txBody>
      </p:sp>
      <p:sp>
        <p:nvSpPr>
          <p:cNvPr id="4" name="Text 2"/>
          <p:cNvSpPr/>
          <p:nvPr/>
        </p:nvSpPr>
        <p:spPr>
          <a:xfrm>
            <a:off x="1364933" y="2489954"/>
            <a:ext cx="3292554" cy="411480"/>
          </a:xfrm>
          <a:prstGeom prst="rect">
            <a:avLst/>
          </a:prstGeom>
          <a:noFill/>
          <a:ln/>
        </p:spPr>
        <p:txBody>
          <a:bodyPr wrap="none" lIns="0" tIns="0" rIns="0" bIns="0" rtlCol="0" anchor="t"/>
          <a:lstStyle/>
          <a:p>
            <a:pPr algn="l" indent="0" marL="0">
              <a:lnSpc>
                <a:spcPts val="3200"/>
              </a:lnSpc>
              <a:buNone/>
            </a:pPr>
            <a:r>
              <a:rPr lang="en-US" sz="2550" dirty="0">
                <a:solidFill>
                  <a:srgbClr val="3257B8"/>
                </a:solidFill>
                <a:latin typeface="Roboto Slab" pitchFamily="34" charset="0"/>
                <a:ea typeface="Roboto Slab" pitchFamily="34" charset="-122"/>
                <a:cs typeface="Roboto Slab" pitchFamily="34" charset="-120"/>
              </a:rPr>
              <a:t>(5 minutes)</a:t>
            </a:r>
            <a:endParaRPr lang="en-US" sz="2550" dirty="0"/>
          </a:p>
        </p:txBody>
      </p:sp>
      <p:sp>
        <p:nvSpPr>
          <p:cNvPr id="5" name="Text 3"/>
          <p:cNvSpPr/>
          <p:nvPr/>
        </p:nvSpPr>
        <p:spPr>
          <a:xfrm>
            <a:off x="1364933" y="3148370"/>
            <a:ext cx="11900535" cy="263366"/>
          </a:xfrm>
          <a:prstGeom prst="rect">
            <a:avLst/>
          </a:prstGeom>
          <a:noFill/>
          <a:ln/>
        </p:spPr>
        <p:txBody>
          <a:bodyPr wrap="none" lIns="0" tIns="0" rIns="0" bIns="0" rtlCol="0" anchor="t"/>
          <a:lstStyle/>
          <a:p>
            <a:pPr algn="l" indent="0" marL="0">
              <a:lnSpc>
                <a:spcPts val="2050"/>
              </a:lnSpc>
              <a:buNone/>
            </a:pPr>
            <a:r>
              <a:rPr lang="en-US" sz="1250" b="1" dirty="0">
                <a:solidFill>
                  <a:srgbClr val="15213F"/>
                </a:solidFill>
                <a:latin typeface="Roboto" pitchFamily="34" charset="0"/>
                <a:ea typeface="Roboto" pitchFamily="34" charset="-122"/>
                <a:cs typeface="Roboto" pitchFamily="34" charset="-120"/>
              </a:rPr>
              <a:t>Find 3 errors in this synthesis report:</a:t>
            </a:r>
            <a:endParaRPr lang="en-US" sz="1250" dirty="0"/>
          </a:p>
        </p:txBody>
      </p:sp>
      <p:sp>
        <p:nvSpPr>
          <p:cNvPr id="6" name="Text 4"/>
          <p:cNvSpPr/>
          <p:nvPr/>
        </p:nvSpPr>
        <p:spPr>
          <a:xfrm>
            <a:off x="1364933" y="3596878"/>
            <a:ext cx="11900535" cy="263366"/>
          </a:xfrm>
          <a:prstGeom prst="rect">
            <a:avLst/>
          </a:prstGeom>
          <a:noFill/>
          <a:ln/>
        </p:spPr>
        <p:txBody>
          <a:bodyPr wrap="none" lIns="0" tIns="0" rIns="0" bIns="0" rtlCol="0" anchor="t"/>
          <a:lstStyle/>
          <a:p>
            <a:pPr algn="l" indent="0" marL="0">
              <a:lnSpc>
                <a:spcPts val="2050"/>
              </a:lnSpc>
              <a:buNone/>
            </a:pPr>
            <a:r>
              <a:rPr lang="en-US" sz="1250" dirty="0">
                <a:solidFill>
                  <a:srgbClr val="15213F"/>
                </a:solidFill>
                <a:latin typeface="Roboto" pitchFamily="34" charset="0"/>
                <a:ea typeface="Roboto" pitchFamily="34" charset="-122"/>
                <a:cs typeface="Roboto" pitchFamily="34" charset="-120"/>
              </a:rPr>
              <a:t>[Display report excerpt with 3 obvious errors:</a:t>
            </a:r>
            <a:endParaRPr lang="en-US" sz="1250" dirty="0"/>
          </a:p>
        </p:txBody>
      </p:sp>
      <p:sp>
        <p:nvSpPr>
          <p:cNvPr id="7" name="Text 5"/>
          <p:cNvSpPr/>
          <p:nvPr/>
        </p:nvSpPr>
        <p:spPr>
          <a:xfrm>
            <a:off x="1364933" y="4045387"/>
            <a:ext cx="11900535" cy="263366"/>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15213F"/>
                </a:solidFill>
                <a:latin typeface="Roboto" pitchFamily="34" charset="0"/>
                <a:ea typeface="Roboto" pitchFamily="34" charset="-122"/>
                <a:cs typeface="Roboto" pitchFamily="34" charset="-120"/>
              </a:rPr>
              <a:t>Wrong DOI format</a:t>
            </a:r>
            <a:endParaRPr lang="en-US" sz="1250" dirty="0"/>
          </a:p>
        </p:txBody>
      </p:sp>
      <p:sp>
        <p:nvSpPr>
          <p:cNvPr id="8" name="Text 6"/>
          <p:cNvSpPr/>
          <p:nvPr/>
        </p:nvSpPr>
        <p:spPr>
          <a:xfrm>
            <a:off x="1364933" y="4366260"/>
            <a:ext cx="11900535" cy="263366"/>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15213F"/>
                </a:solidFill>
                <a:latin typeface="Roboto" pitchFamily="34" charset="0"/>
                <a:ea typeface="Roboto" pitchFamily="34" charset="-122"/>
                <a:cs typeface="Roboto" pitchFamily="34" charset="-120"/>
              </a:rPr>
              <a:t>Physically impossible temperature</a:t>
            </a:r>
            <a:endParaRPr lang="en-US" sz="1250" dirty="0"/>
          </a:p>
        </p:txBody>
      </p:sp>
      <p:sp>
        <p:nvSpPr>
          <p:cNvPr id="9" name="Text 7"/>
          <p:cNvSpPr/>
          <p:nvPr/>
        </p:nvSpPr>
        <p:spPr>
          <a:xfrm>
            <a:off x="1364933" y="4687133"/>
            <a:ext cx="11900535" cy="263366"/>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15213F"/>
                </a:solidFill>
                <a:latin typeface="Roboto" pitchFamily="34" charset="0"/>
                <a:ea typeface="Roboto" pitchFamily="34" charset="-122"/>
                <a:cs typeface="Roboto" pitchFamily="34" charset="-120"/>
              </a:rPr>
              <a:t>Non-existent equipment model]</a:t>
            </a:r>
            <a:endParaRPr lang="en-US" sz="1250" dirty="0"/>
          </a:p>
        </p:txBody>
      </p:sp>
      <p:sp>
        <p:nvSpPr>
          <p:cNvPr id="10" name="Text 8"/>
          <p:cNvSpPr/>
          <p:nvPr/>
        </p:nvSpPr>
        <p:spPr>
          <a:xfrm>
            <a:off x="1364933" y="5135642"/>
            <a:ext cx="11900535" cy="263366"/>
          </a:xfrm>
          <a:prstGeom prst="rect">
            <a:avLst/>
          </a:prstGeom>
          <a:noFill/>
          <a:ln/>
        </p:spPr>
        <p:txBody>
          <a:bodyPr wrap="none" lIns="0" tIns="0" rIns="0" bIns="0" rtlCol="0" anchor="t"/>
          <a:lstStyle/>
          <a:p>
            <a:pPr algn="l" indent="0" marL="0">
              <a:lnSpc>
                <a:spcPts val="2050"/>
              </a:lnSpc>
              <a:buNone/>
            </a:pPr>
            <a:r>
              <a:rPr lang="en-US" sz="1250" b="1" dirty="0">
                <a:solidFill>
                  <a:srgbClr val="15213F"/>
                </a:solidFill>
                <a:latin typeface="Roboto" pitchFamily="34" charset="0"/>
                <a:ea typeface="Roboto" pitchFamily="34" charset="-122"/>
                <a:cs typeface="Roboto" pitchFamily="34" charset="-120"/>
              </a:rPr>
              <a:t>Teams:</a:t>
            </a:r>
            <a:endParaRPr lang="en-US" sz="1250" dirty="0"/>
          </a:p>
        </p:txBody>
      </p:sp>
      <p:sp>
        <p:nvSpPr>
          <p:cNvPr id="11" name="Text 9"/>
          <p:cNvSpPr/>
          <p:nvPr/>
        </p:nvSpPr>
        <p:spPr>
          <a:xfrm>
            <a:off x="1364933" y="5584150"/>
            <a:ext cx="11900535" cy="263366"/>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15213F"/>
                </a:solidFill>
                <a:latin typeface="Roboto" pitchFamily="34" charset="0"/>
                <a:ea typeface="Roboto" pitchFamily="34" charset="-122"/>
                <a:cs typeface="Roboto" pitchFamily="34" charset="-120"/>
              </a:rPr>
              <a:t>Mark errors in your notes</a:t>
            </a:r>
            <a:endParaRPr lang="en-US" sz="1250" dirty="0"/>
          </a:p>
        </p:txBody>
      </p:sp>
      <p:sp>
        <p:nvSpPr>
          <p:cNvPr id="12" name="Text 10"/>
          <p:cNvSpPr/>
          <p:nvPr/>
        </p:nvSpPr>
        <p:spPr>
          <a:xfrm>
            <a:off x="1364933" y="5905024"/>
            <a:ext cx="11900535" cy="263366"/>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15213F"/>
                </a:solidFill>
                <a:latin typeface="Roboto" pitchFamily="34" charset="0"/>
                <a:ea typeface="Roboto" pitchFamily="34" charset="-122"/>
                <a:cs typeface="Roboto" pitchFamily="34" charset="-120"/>
              </a:rPr>
              <a:t>Write brief explanation for each</a:t>
            </a:r>
            <a:endParaRPr lang="en-US" sz="1250" dirty="0"/>
          </a:p>
        </p:txBody>
      </p:sp>
      <p:sp>
        <p:nvSpPr>
          <p:cNvPr id="13" name="Text 11"/>
          <p:cNvSpPr/>
          <p:nvPr/>
        </p:nvSpPr>
        <p:spPr>
          <a:xfrm>
            <a:off x="1364933" y="6353532"/>
            <a:ext cx="11900535" cy="263366"/>
          </a:xfrm>
          <a:prstGeom prst="rect">
            <a:avLst/>
          </a:prstGeom>
          <a:noFill/>
          <a:ln/>
        </p:spPr>
        <p:txBody>
          <a:bodyPr wrap="none" lIns="0" tIns="0" rIns="0" bIns="0" rtlCol="0" anchor="t"/>
          <a:lstStyle/>
          <a:p>
            <a:pPr algn="l" indent="0" marL="0">
              <a:lnSpc>
                <a:spcPts val="2050"/>
              </a:lnSpc>
              <a:buNone/>
            </a:pPr>
            <a:r>
              <a:rPr lang="en-US" sz="1250" b="1" dirty="0">
                <a:solidFill>
                  <a:srgbClr val="15213F"/>
                </a:solidFill>
                <a:latin typeface="Roboto" pitchFamily="34" charset="0"/>
                <a:ea typeface="Roboto" pitchFamily="34" charset="-122"/>
                <a:cs typeface="Roboto" pitchFamily="34" charset="-120"/>
              </a:rPr>
              <a:t>Points:</a:t>
            </a:r>
            <a:pPr algn="l" indent="0" marL="0">
              <a:lnSpc>
                <a:spcPts val="2050"/>
              </a:lnSpc>
              <a:buNone/>
            </a:pPr>
            <a:r>
              <a:rPr lang="en-US" sz="1250" dirty="0">
                <a:solidFill>
                  <a:srgbClr val="15213F"/>
                </a:solidFill>
                <a:latin typeface="Roboto" pitchFamily="34" charset="0"/>
                <a:ea typeface="Roboto" pitchFamily="34" charset="-122"/>
                <a:cs typeface="Roboto" pitchFamily="34" charset="-120"/>
              </a:rPr>
              <a:t> 10 per correct identification</a:t>
            </a:r>
            <a:endParaRPr lang="en-US" sz="1250" dirty="0"/>
          </a:p>
        </p:txBody>
      </p:sp>
      <p:sp>
        <p:nvSpPr>
          <p:cNvPr id="14" name="Text 12"/>
          <p:cNvSpPr/>
          <p:nvPr/>
        </p:nvSpPr>
        <p:spPr>
          <a:xfrm>
            <a:off x="1364933" y="6802041"/>
            <a:ext cx="11900535" cy="263366"/>
          </a:xfrm>
          <a:prstGeom prst="rect">
            <a:avLst/>
          </a:prstGeom>
          <a:noFill/>
          <a:ln/>
        </p:spPr>
        <p:txBody>
          <a:bodyPr wrap="none" lIns="0" tIns="0" rIns="0" bIns="0" rtlCol="0" anchor="t"/>
          <a:lstStyle/>
          <a:p>
            <a:pPr algn="l" indent="0" marL="0">
              <a:lnSpc>
                <a:spcPts val="2050"/>
              </a:lnSpc>
              <a:buNone/>
            </a:pPr>
            <a:r>
              <a:rPr lang="en-US" sz="1250" b="1" dirty="0">
                <a:solidFill>
                  <a:srgbClr val="15213F"/>
                </a:solidFill>
                <a:latin typeface="Roboto" pitchFamily="34" charset="0"/>
                <a:ea typeface="Roboto" pitchFamily="34" charset="-122"/>
                <a:cs typeface="Roboto" pitchFamily="34" charset="-120"/>
              </a:rPr>
              <a:t>Timer starts... NOW!</a:t>
            </a:r>
            <a:endParaRPr lang="en-US" sz="1250" dirty="0"/>
          </a:p>
        </p:txBody>
      </p:sp>
      <p:sp>
        <p:nvSpPr>
          <p:cNvPr id="15" name="Text 13"/>
          <p:cNvSpPr/>
          <p:nvPr/>
        </p:nvSpPr>
        <p:spPr>
          <a:xfrm>
            <a:off x="1364933" y="7250549"/>
            <a:ext cx="11900535" cy="526733"/>
          </a:xfrm>
          <a:prstGeom prst="rect">
            <a:avLst/>
          </a:prstGeom>
          <a:noFill/>
          <a:ln/>
        </p:spPr>
        <p:txBody>
          <a:bodyPr wrap="square" lIns="0" tIns="0" rIns="0" bIns="0" rtlCol="0" anchor="t"/>
          <a:lstStyle/>
          <a:p>
            <a:pPr algn="l" indent="0" marL="0">
              <a:lnSpc>
                <a:spcPts val="2050"/>
              </a:lnSpc>
              <a:buNone/>
            </a:pPr>
            <a:r>
              <a:rPr lang="en-US" sz="1250" dirty="0">
                <a:solidFill>
                  <a:srgbClr val="15213F"/>
                </a:solidFill>
                <a:latin typeface="Roboto" pitchFamily="34" charset="0"/>
                <a:ea typeface="Roboto" pitchFamily="34" charset="-122"/>
                <a:cs typeface="Roboto" pitchFamily="34" charset="-120"/>
              </a:rPr>
              <a:t>Round 1: The Warm-Up! Five minutes. Find three obvious errors in this synthesis report. Mark them in your notes, write brief explanation. What's wrong and how do you know? Ten points each. Ready? Timer starts... now! [Monitor time, give 1-minute warning, call time at 5 min]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224320"/>
            <a:ext cx="6742867"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Round 1 - Answers &amp; Scoring</a:t>
            </a:r>
            <a:endParaRPr lang="en-US" sz="3900" dirty="0"/>
          </a:p>
        </p:txBody>
      </p:sp>
      <p:sp>
        <p:nvSpPr>
          <p:cNvPr id="3" name="Text 1"/>
          <p:cNvSpPr/>
          <p:nvPr/>
        </p:nvSpPr>
        <p:spPr>
          <a:xfrm>
            <a:off x="793790" y="1923693"/>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Round 1 Answers:</a:t>
            </a:r>
            <a:endParaRPr lang="en-US" sz="3100" dirty="0"/>
          </a:p>
        </p:txBody>
      </p:sp>
      <p:sp>
        <p:nvSpPr>
          <p:cNvPr id="4" name="Shape 2"/>
          <p:cNvSpPr/>
          <p:nvPr/>
        </p:nvSpPr>
        <p:spPr>
          <a:xfrm>
            <a:off x="793790" y="2717483"/>
            <a:ext cx="4215289" cy="2571036"/>
          </a:xfrm>
          <a:prstGeom prst="roundRect">
            <a:avLst>
              <a:gd name="adj" fmla="val 4268"/>
            </a:avLst>
          </a:prstGeom>
          <a:solidFill>
            <a:srgbClr val="FBFCFE"/>
          </a:solidFill>
          <a:ln w="22860">
            <a:solidFill>
              <a:srgbClr val="CFD2D8"/>
            </a:solidFill>
            <a:prstDash val="solid"/>
          </a:ln>
        </p:spPr>
      </p:sp>
      <p:pic>
        <p:nvPicPr>
          <p:cNvPr id="5" name="Image 0" descr="preencoded.png">    </p:cNvPr>
          <p:cNvPicPr>
            <a:picLocks noChangeAspect="1"/>
          </p:cNvPicPr>
          <p:nvPr/>
        </p:nvPicPr>
        <p:blipFill>
          <a:blip r:embed="rId1"/>
          <a:stretch>
            <a:fillRect/>
          </a:stretch>
        </p:blipFill>
        <p:spPr>
          <a:xfrm>
            <a:off x="770930" y="2717483"/>
            <a:ext cx="91440" cy="2571036"/>
          </a:xfrm>
          <a:prstGeom prst="rect">
            <a:avLst/>
          </a:prstGeom>
        </p:spPr>
      </p:pic>
      <p:sp>
        <p:nvSpPr>
          <p:cNvPr id="6" name="Text 3"/>
          <p:cNvSpPr/>
          <p:nvPr/>
        </p:nvSpPr>
        <p:spPr>
          <a:xfrm>
            <a:off x="1083588" y="2938701"/>
            <a:ext cx="3704273" cy="620316"/>
          </a:xfrm>
          <a:prstGeom prst="rect">
            <a:avLst/>
          </a:prstGeom>
          <a:noFill/>
          <a:ln/>
        </p:spPr>
        <p:txBody>
          <a:bodyPr wrap="squar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Error 1: DOI 10.1002/pen.2023.08.445</a:t>
            </a:r>
            <a:endParaRPr lang="en-US" sz="1950" dirty="0"/>
          </a:p>
        </p:txBody>
      </p:sp>
      <p:sp>
        <p:nvSpPr>
          <p:cNvPr id="7" name="Text 4"/>
          <p:cNvSpPr/>
          <p:nvPr/>
        </p:nvSpPr>
        <p:spPr>
          <a:xfrm>
            <a:off x="1083588" y="3678079"/>
            <a:ext cx="3704273"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Wrong format (should be 10.1002/pen.####)</a:t>
            </a:r>
            <a:endParaRPr lang="en-US" sz="1550" dirty="0"/>
          </a:p>
        </p:txBody>
      </p:sp>
      <p:sp>
        <p:nvSpPr>
          <p:cNvPr id="8" name="Text 5"/>
          <p:cNvSpPr/>
          <p:nvPr/>
        </p:nvSpPr>
        <p:spPr>
          <a:xfrm>
            <a:off x="1083588" y="4432221"/>
            <a:ext cx="3704273"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Verification: DOI doesn't resolve in CrossRef</a:t>
            </a:r>
            <a:endParaRPr lang="en-US" sz="1550" dirty="0"/>
          </a:p>
        </p:txBody>
      </p:sp>
      <p:sp>
        <p:nvSpPr>
          <p:cNvPr id="9" name="Shape 6"/>
          <p:cNvSpPr/>
          <p:nvPr/>
        </p:nvSpPr>
        <p:spPr>
          <a:xfrm>
            <a:off x="5207437" y="2717483"/>
            <a:ext cx="4215408" cy="2571036"/>
          </a:xfrm>
          <a:prstGeom prst="roundRect">
            <a:avLst>
              <a:gd name="adj" fmla="val 4268"/>
            </a:avLst>
          </a:prstGeom>
          <a:solidFill>
            <a:srgbClr val="FBFCFE"/>
          </a:solidFill>
          <a:ln w="22860">
            <a:solidFill>
              <a:srgbClr val="CFD2D8"/>
            </a:solidFill>
            <a:prstDash val="solid"/>
          </a:ln>
        </p:spPr>
      </p:sp>
      <p:pic>
        <p:nvPicPr>
          <p:cNvPr id="10" name="Image 1" descr="preencoded.png">    </p:cNvPr>
          <p:cNvPicPr>
            <a:picLocks noChangeAspect="1"/>
          </p:cNvPicPr>
          <p:nvPr/>
        </p:nvPicPr>
        <p:blipFill>
          <a:blip r:embed="rId2"/>
          <a:stretch>
            <a:fillRect/>
          </a:stretch>
        </p:blipFill>
        <p:spPr>
          <a:xfrm>
            <a:off x="5184577" y="2717483"/>
            <a:ext cx="91440" cy="2571036"/>
          </a:xfrm>
          <a:prstGeom prst="rect">
            <a:avLst/>
          </a:prstGeom>
        </p:spPr>
      </p:pic>
      <p:sp>
        <p:nvSpPr>
          <p:cNvPr id="11" name="Text 7"/>
          <p:cNvSpPr/>
          <p:nvPr/>
        </p:nvSpPr>
        <p:spPr>
          <a:xfrm>
            <a:off x="5497235" y="2938701"/>
            <a:ext cx="3704392" cy="620316"/>
          </a:xfrm>
          <a:prstGeom prst="rect">
            <a:avLst/>
          </a:prstGeom>
          <a:noFill/>
          <a:ln/>
        </p:spPr>
        <p:txBody>
          <a:bodyPr wrap="squar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Error 2: "Electrospinning at 450°C"</a:t>
            </a:r>
            <a:endParaRPr lang="en-US" sz="1950" dirty="0"/>
          </a:p>
        </p:txBody>
      </p:sp>
      <p:sp>
        <p:nvSpPr>
          <p:cNvPr id="12" name="Text 8"/>
          <p:cNvSpPr/>
          <p:nvPr/>
        </p:nvSpPr>
        <p:spPr>
          <a:xfrm>
            <a:off x="5497235" y="3678079"/>
            <a:ext cx="3704392"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PLA melts at ~170°C, decomposes well before 450°C</a:t>
            </a:r>
            <a:endParaRPr lang="en-US" sz="1550" dirty="0"/>
          </a:p>
        </p:txBody>
      </p:sp>
      <p:sp>
        <p:nvSpPr>
          <p:cNvPr id="13" name="Text 9"/>
          <p:cNvSpPr/>
          <p:nvPr/>
        </p:nvSpPr>
        <p:spPr>
          <a:xfrm>
            <a:off x="5497235" y="4432221"/>
            <a:ext cx="3704392"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Verification: Materials science knowledge</a:t>
            </a:r>
            <a:endParaRPr lang="en-US" sz="1550" dirty="0"/>
          </a:p>
        </p:txBody>
      </p:sp>
      <p:sp>
        <p:nvSpPr>
          <p:cNvPr id="14" name="Shape 10"/>
          <p:cNvSpPr/>
          <p:nvPr/>
        </p:nvSpPr>
        <p:spPr>
          <a:xfrm>
            <a:off x="9621203" y="2717483"/>
            <a:ext cx="4215289" cy="2571036"/>
          </a:xfrm>
          <a:prstGeom prst="roundRect">
            <a:avLst>
              <a:gd name="adj" fmla="val 4268"/>
            </a:avLst>
          </a:prstGeom>
          <a:solidFill>
            <a:srgbClr val="FBFCFE"/>
          </a:solidFill>
          <a:ln w="22860">
            <a:solidFill>
              <a:srgbClr val="CFD2D8"/>
            </a:solidFill>
            <a:prstDash val="solid"/>
          </a:ln>
        </p:spPr>
      </p:sp>
      <p:pic>
        <p:nvPicPr>
          <p:cNvPr id="15" name="Image 2" descr="preencoded.png">    </p:cNvPr>
          <p:cNvPicPr>
            <a:picLocks noChangeAspect="1"/>
          </p:cNvPicPr>
          <p:nvPr/>
        </p:nvPicPr>
        <p:blipFill>
          <a:blip r:embed="rId3"/>
          <a:stretch>
            <a:fillRect/>
          </a:stretch>
        </p:blipFill>
        <p:spPr>
          <a:xfrm>
            <a:off x="9598343" y="2717483"/>
            <a:ext cx="91440" cy="2571036"/>
          </a:xfrm>
          <a:prstGeom prst="rect">
            <a:avLst/>
          </a:prstGeom>
        </p:spPr>
      </p:pic>
      <p:sp>
        <p:nvSpPr>
          <p:cNvPr id="16" name="Text 11"/>
          <p:cNvSpPr/>
          <p:nvPr/>
        </p:nvSpPr>
        <p:spPr>
          <a:xfrm>
            <a:off x="9911001" y="2938701"/>
            <a:ext cx="3704273" cy="620316"/>
          </a:xfrm>
          <a:prstGeom prst="rect">
            <a:avLst/>
          </a:prstGeom>
          <a:noFill/>
          <a:ln/>
        </p:spPr>
        <p:txBody>
          <a:bodyPr wrap="squar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Error 3: "Using Zeiss SuperMax 9000"</a:t>
            </a:r>
            <a:endParaRPr lang="en-US" sz="1950" dirty="0"/>
          </a:p>
        </p:txBody>
      </p:sp>
      <p:sp>
        <p:nvSpPr>
          <p:cNvPr id="17" name="Text 12"/>
          <p:cNvSpPr/>
          <p:nvPr/>
        </p:nvSpPr>
        <p:spPr>
          <a:xfrm>
            <a:off x="9911001" y="3678079"/>
            <a:ext cx="3704273"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No such SEM model exists</a:t>
            </a:r>
            <a:endParaRPr lang="en-US" sz="1550" dirty="0"/>
          </a:p>
        </p:txBody>
      </p:sp>
      <p:sp>
        <p:nvSpPr>
          <p:cNvPr id="18" name="Text 13"/>
          <p:cNvSpPr/>
          <p:nvPr/>
        </p:nvSpPr>
        <p:spPr>
          <a:xfrm>
            <a:off x="9911001" y="4114681"/>
            <a:ext cx="3704273"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Verification: Equipment database search</a:t>
            </a:r>
            <a:endParaRPr lang="en-US" sz="1550" dirty="0"/>
          </a:p>
        </p:txBody>
      </p:sp>
      <p:sp>
        <p:nvSpPr>
          <p:cNvPr id="19" name="Text 14"/>
          <p:cNvSpPr/>
          <p:nvPr/>
        </p:nvSpPr>
        <p:spPr>
          <a:xfrm>
            <a:off x="793790" y="5511760"/>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Scoring: Teams report their catches!</a:t>
            </a:r>
            <a:endParaRPr lang="en-US" sz="1550" dirty="0"/>
          </a:p>
        </p:txBody>
      </p:sp>
      <p:sp>
        <p:nvSpPr>
          <p:cNvPr id="20" name="Text 15"/>
          <p:cNvSpPr/>
          <p:nvPr/>
        </p:nvSpPr>
        <p:spPr>
          <a:xfrm>
            <a:off x="793790" y="6052542"/>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Answers! Error 1: DOI format wrong - doesn't resolve. Easy catch if you verify citations. Error 2: 450°C for PLA? Impossible - it decomposes way before that. Your materials knowledge catches this. Error 3: Zeiss SuperMax 9000 doesn't exist - invented equipment. Teams, call out how many you got! [Record scores on leaderboard. Celebrate good catches. Explain why each matters.]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965252" y="804505"/>
            <a:ext cx="3474601" cy="375999"/>
          </a:xfrm>
          <a:prstGeom prst="rect">
            <a:avLst/>
          </a:prstGeom>
          <a:noFill/>
          <a:ln/>
        </p:spPr>
        <p:txBody>
          <a:bodyPr wrap="none" lIns="0" tIns="0" rIns="0" bIns="0" rtlCol="0" anchor="t"/>
          <a:lstStyle/>
          <a:p>
            <a:pPr algn="l" indent="0" marL="0">
              <a:lnSpc>
                <a:spcPts val="2950"/>
              </a:lnSpc>
              <a:buNone/>
            </a:pPr>
            <a:r>
              <a:rPr lang="en-US" sz="2350" dirty="0">
                <a:solidFill>
                  <a:srgbClr val="3257B8"/>
                </a:solidFill>
                <a:latin typeface="Roboto Slab" pitchFamily="34" charset="0"/>
                <a:ea typeface="Roboto Slab" pitchFamily="34" charset="-122"/>
                <a:cs typeface="Roboto Slab" pitchFamily="34" charset="-120"/>
              </a:rPr>
              <a:t>Round 2 - The Challenge</a:t>
            </a:r>
            <a:endParaRPr lang="en-US" sz="2350" dirty="0"/>
          </a:p>
        </p:txBody>
      </p:sp>
      <p:sp>
        <p:nvSpPr>
          <p:cNvPr id="3" name="Text 1"/>
          <p:cNvSpPr/>
          <p:nvPr/>
        </p:nvSpPr>
        <p:spPr>
          <a:xfrm>
            <a:off x="2965252" y="1361003"/>
            <a:ext cx="7916704" cy="752118"/>
          </a:xfrm>
          <a:prstGeom prst="rect">
            <a:avLst/>
          </a:prstGeom>
          <a:noFill/>
          <a:ln/>
        </p:spPr>
        <p:txBody>
          <a:bodyPr wrap="none" lIns="0" tIns="0" rIns="0" bIns="0" rtlCol="0" anchor="t"/>
          <a:lstStyle/>
          <a:p>
            <a:pPr algn="l" indent="0" marL="0">
              <a:lnSpc>
                <a:spcPts val="5900"/>
              </a:lnSpc>
              <a:buNone/>
            </a:pPr>
            <a:r>
              <a:rPr lang="en-US" sz="4700" dirty="0">
                <a:solidFill>
                  <a:srgbClr val="3257B8"/>
                </a:solidFill>
                <a:latin typeface="Roboto Slab" pitchFamily="34" charset="0"/>
                <a:ea typeface="Roboto Slab" pitchFamily="34" charset="-122"/>
                <a:cs typeface="Roboto Slab" pitchFamily="34" charset="-120"/>
              </a:rPr>
              <a:t>ROUND 2: THE CHALLENGE</a:t>
            </a:r>
            <a:endParaRPr lang="en-US" sz="4700" dirty="0"/>
          </a:p>
        </p:txBody>
      </p:sp>
      <p:sp>
        <p:nvSpPr>
          <p:cNvPr id="4" name="Text 2"/>
          <p:cNvSpPr/>
          <p:nvPr/>
        </p:nvSpPr>
        <p:spPr>
          <a:xfrm>
            <a:off x="2965252" y="2293620"/>
            <a:ext cx="2407087" cy="300871"/>
          </a:xfrm>
          <a:prstGeom prst="rect">
            <a:avLst/>
          </a:prstGeom>
          <a:noFill/>
          <a:ln/>
        </p:spPr>
        <p:txBody>
          <a:bodyPr wrap="none" lIns="0" tIns="0" rIns="0" bIns="0" rtlCol="0" anchor="t"/>
          <a:lstStyle/>
          <a:p>
            <a:pPr algn="l" indent="0" marL="0">
              <a:lnSpc>
                <a:spcPts val="2350"/>
              </a:lnSpc>
              <a:buNone/>
            </a:pPr>
            <a:r>
              <a:rPr lang="en-US" sz="1850" dirty="0">
                <a:solidFill>
                  <a:srgbClr val="3257B8"/>
                </a:solidFill>
                <a:latin typeface="Roboto Slab" pitchFamily="34" charset="0"/>
                <a:ea typeface="Roboto Slab" pitchFamily="34" charset="-122"/>
                <a:cs typeface="Roboto Slab" pitchFamily="34" charset="-120"/>
              </a:rPr>
              <a:t>(8 minutes)</a:t>
            </a:r>
            <a:endParaRPr lang="en-US" sz="1850" dirty="0"/>
          </a:p>
        </p:txBody>
      </p:sp>
      <p:sp>
        <p:nvSpPr>
          <p:cNvPr id="5" name="Text 3"/>
          <p:cNvSpPr/>
          <p:nvPr/>
        </p:nvSpPr>
        <p:spPr>
          <a:xfrm>
            <a:off x="2965252" y="2774990"/>
            <a:ext cx="8699897" cy="192524"/>
          </a:xfrm>
          <a:prstGeom prst="rect">
            <a:avLst/>
          </a:prstGeom>
          <a:noFill/>
          <a:ln/>
        </p:spPr>
        <p:txBody>
          <a:bodyPr wrap="none" lIns="0" tIns="0" rIns="0" bIns="0" rtlCol="0" anchor="t"/>
          <a:lstStyle/>
          <a:p>
            <a:pPr algn="l" indent="0" marL="0">
              <a:lnSpc>
                <a:spcPts val="1500"/>
              </a:lnSpc>
              <a:buNone/>
            </a:pPr>
            <a:r>
              <a:rPr lang="en-US" sz="900" b="1" dirty="0">
                <a:solidFill>
                  <a:srgbClr val="15213F"/>
                </a:solidFill>
                <a:latin typeface="Roboto" pitchFamily="34" charset="0"/>
                <a:ea typeface="Roboto" pitchFamily="34" charset="-122"/>
                <a:cs typeface="Roboto" pitchFamily="34" charset="-120"/>
              </a:rPr>
              <a:t>Find 5 SUBTLE errors in this characterisation report:</a:t>
            </a:r>
            <a:endParaRPr lang="en-US" sz="900" dirty="0"/>
          </a:p>
        </p:txBody>
      </p:sp>
      <p:sp>
        <p:nvSpPr>
          <p:cNvPr id="6" name="Text 4"/>
          <p:cNvSpPr/>
          <p:nvPr/>
        </p:nvSpPr>
        <p:spPr>
          <a:xfrm>
            <a:off x="2965252" y="3102888"/>
            <a:ext cx="8699897" cy="192524"/>
          </a:xfrm>
          <a:prstGeom prst="rect">
            <a:avLst/>
          </a:prstGeom>
          <a:noFill/>
          <a:ln/>
        </p:spPr>
        <p:txBody>
          <a:bodyPr wrap="none" lIns="0" tIns="0" rIns="0" bIns="0" rtlCol="0" anchor="t"/>
          <a:lstStyle/>
          <a:p>
            <a:pPr algn="l" indent="0" marL="0">
              <a:lnSpc>
                <a:spcPts val="1500"/>
              </a:lnSpc>
              <a:buNone/>
            </a:pPr>
            <a:r>
              <a:rPr lang="en-US" sz="900" dirty="0">
                <a:solidFill>
                  <a:srgbClr val="15213F"/>
                </a:solidFill>
                <a:latin typeface="Roboto" pitchFamily="34" charset="0"/>
                <a:ea typeface="Roboto" pitchFamily="34" charset="-122"/>
                <a:cs typeface="Roboto" pitchFamily="34" charset="-120"/>
              </a:rPr>
              <a:t>[Display report with 5 subtle errors:</a:t>
            </a:r>
            <a:endParaRPr lang="en-US" sz="900" dirty="0"/>
          </a:p>
        </p:txBody>
      </p:sp>
      <p:sp>
        <p:nvSpPr>
          <p:cNvPr id="7" name="Text 5"/>
          <p:cNvSpPr/>
          <p:nvPr/>
        </p:nvSpPr>
        <p:spPr>
          <a:xfrm>
            <a:off x="2965252" y="3430786"/>
            <a:ext cx="8699897" cy="192524"/>
          </a:xfrm>
          <a:prstGeom prst="rect">
            <a:avLst/>
          </a:prstGeom>
          <a:noFill/>
          <a:ln/>
        </p:spPr>
        <p:txBody>
          <a:bodyPr wrap="none" lIns="0" tIns="0" rIns="0" bIns="0" rtlCol="0" anchor="t"/>
          <a:lstStyle/>
          <a:p>
            <a:pPr algn="l" marL="342900" indent="-342900">
              <a:lnSpc>
                <a:spcPts val="1500"/>
              </a:lnSpc>
              <a:buSzPct val="100000"/>
              <a:buChar char="•"/>
            </a:pPr>
            <a:r>
              <a:rPr lang="en-US" sz="900" dirty="0">
                <a:solidFill>
                  <a:srgbClr val="15213F"/>
                </a:solidFill>
                <a:latin typeface="Roboto" pitchFamily="34" charset="0"/>
                <a:ea typeface="Roboto" pitchFamily="34" charset="-122"/>
                <a:cs typeface="Roboto" pitchFamily="34" charset="-120"/>
              </a:rPr>
              <a:t>Fabricated citation (realistic DOI)</a:t>
            </a:r>
            <a:endParaRPr lang="en-US" sz="900" dirty="0"/>
          </a:p>
        </p:txBody>
      </p:sp>
      <p:sp>
        <p:nvSpPr>
          <p:cNvPr id="8" name="Text 6"/>
          <p:cNvSpPr/>
          <p:nvPr/>
        </p:nvSpPr>
        <p:spPr>
          <a:xfrm>
            <a:off x="2965252" y="3665339"/>
            <a:ext cx="8699897" cy="192524"/>
          </a:xfrm>
          <a:prstGeom prst="rect">
            <a:avLst/>
          </a:prstGeom>
          <a:noFill/>
          <a:ln/>
        </p:spPr>
        <p:txBody>
          <a:bodyPr wrap="none" lIns="0" tIns="0" rIns="0" bIns="0" rtlCol="0" anchor="t"/>
          <a:lstStyle/>
          <a:p>
            <a:pPr algn="l" marL="342900" indent="-342900">
              <a:lnSpc>
                <a:spcPts val="1500"/>
              </a:lnSpc>
              <a:buSzPct val="100000"/>
              <a:buChar char="•"/>
            </a:pPr>
            <a:r>
              <a:rPr lang="en-US" sz="900" dirty="0">
                <a:solidFill>
                  <a:srgbClr val="15213F"/>
                </a:solidFill>
                <a:latin typeface="Roboto" pitchFamily="34" charset="0"/>
                <a:ea typeface="Roboto" pitchFamily="34" charset="-122"/>
                <a:cs typeface="Roboto" pitchFamily="34" charset="-120"/>
              </a:rPr>
              <a:t>Inconsistent claim (modulus vs ductility trade-off)</a:t>
            </a:r>
            <a:endParaRPr lang="en-US" sz="900" dirty="0"/>
          </a:p>
        </p:txBody>
      </p:sp>
      <p:sp>
        <p:nvSpPr>
          <p:cNvPr id="9" name="Text 7"/>
          <p:cNvSpPr/>
          <p:nvPr/>
        </p:nvSpPr>
        <p:spPr>
          <a:xfrm>
            <a:off x="2965252" y="3899892"/>
            <a:ext cx="8699897" cy="192524"/>
          </a:xfrm>
          <a:prstGeom prst="rect">
            <a:avLst/>
          </a:prstGeom>
          <a:noFill/>
          <a:ln/>
        </p:spPr>
        <p:txBody>
          <a:bodyPr wrap="none" lIns="0" tIns="0" rIns="0" bIns="0" rtlCol="0" anchor="t"/>
          <a:lstStyle/>
          <a:p>
            <a:pPr algn="l" marL="342900" indent="-342900">
              <a:lnSpc>
                <a:spcPts val="1500"/>
              </a:lnSpc>
              <a:buSzPct val="100000"/>
              <a:buChar char="•"/>
            </a:pPr>
            <a:r>
              <a:rPr lang="en-US" sz="900" dirty="0">
                <a:solidFill>
                  <a:srgbClr val="15213F"/>
                </a:solidFill>
                <a:latin typeface="Roboto" pitchFamily="34" charset="0"/>
                <a:ea typeface="Roboto" pitchFamily="34" charset="-122"/>
                <a:cs typeface="Roboto" pitchFamily="34" charset="-120"/>
              </a:rPr>
              <a:t>Non-existent technique (plausible-sounding name)</a:t>
            </a:r>
            <a:endParaRPr lang="en-US" sz="900" dirty="0"/>
          </a:p>
        </p:txBody>
      </p:sp>
      <p:sp>
        <p:nvSpPr>
          <p:cNvPr id="10" name="Text 8"/>
          <p:cNvSpPr/>
          <p:nvPr/>
        </p:nvSpPr>
        <p:spPr>
          <a:xfrm>
            <a:off x="2965252" y="4134445"/>
            <a:ext cx="8699897" cy="192524"/>
          </a:xfrm>
          <a:prstGeom prst="rect">
            <a:avLst/>
          </a:prstGeom>
          <a:noFill/>
          <a:ln/>
        </p:spPr>
        <p:txBody>
          <a:bodyPr wrap="none" lIns="0" tIns="0" rIns="0" bIns="0" rtlCol="0" anchor="t"/>
          <a:lstStyle/>
          <a:p>
            <a:pPr algn="l" marL="342900" indent="-342900">
              <a:lnSpc>
                <a:spcPts val="1500"/>
              </a:lnSpc>
              <a:buSzPct val="100000"/>
              <a:buChar char="•"/>
            </a:pPr>
            <a:r>
              <a:rPr lang="en-US" sz="900" dirty="0">
                <a:solidFill>
                  <a:srgbClr val="15213F"/>
                </a:solidFill>
                <a:latin typeface="Roboto" pitchFamily="34" charset="0"/>
                <a:ea typeface="Roboto" pitchFamily="34" charset="-122"/>
                <a:cs typeface="Roboto" pitchFamily="34" charset="-120"/>
              </a:rPr>
              <a:t>Statistical impossibility</a:t>
            </a:r>
            <a:endParaRPr lang="en-US" sz="900" dirty="0"/>
          </a:p>
        </p:txBody>
      </p:sp>
      <p:sp>
        <p:nvSpPr>
          <p:cNvPr id="11" name="Text 9"/>
          <p:cNvSpPr/>
          <p:nvPr/>
        </p:nvSpPr>
        <p:spPr>
          <a:xfrm>
            <a:off x="2965252" y="4368998"/>
            <a:ext cx="8699897" cy="192524"/>
          </a:xfrm>
          <a:prstGeom prst="rect">
            <a:avLst/>
          </a:prstGeom>
          <a:noFill/>
          <a:ln/>
        </p:spPr>
        <p:txBody>
          <a:bodyPr wrap="none" lIns="0" tIns="0" rIns="0" bIns="0" rtlCol="0" anchor="t"/>
          <a:lstStyle/>
          <a:p>
            <a:pPr algn="l" marL="342900" indent="-342900">
              <a:lnSpc>
                <a:spcPts val="1500"/>
              </a:lnSpc>
              <a:buSzPct val="100000"/>
              <a:buChar char="•"/>
            </a:pPr>
            <a:r>
              <a:rPr lang="en-US" sz="900" dirty="0">
                <a:solidFill>
                  <a:srgbClr val="15213F"/>
                </a:solidFill>
                <a:latin typeface="Roboto" pitchFamily="34" charset="0"/>
                <a:ea typeface="Roboto" pitchFamily="34" charset="-122"/>
                <a:cs typeface="Roboto" pitchFamily="34" charset="-120"/>
              </a:rPr>
              <a:t>Misattributed discovery]</a:t>
            </a:r>
            <a:endParaRPr lang="en-US" sz="900" dirty="0"/>
          </a:p>
        </p:txBody>
      </p:sp>
      <p:sp>
        <p:nvSpPr>
          <p:cNvPr id="12" name="Text 10"/>
          <p:cNvSpPr/>
          <p:nvPr/>
        </p:nvSpPr>
        <p:spPr>
          <a:xfrm>
            <a:off x="2965252" y="4696897"/>
            <a:ext cx="8699897" cy="192524"/>
          </a:xfrm>
          <a:prstGeom prst="rect">
            <a:avLst/>
          </a:prstGeom>
          <a:noFill/>
          <a:ln/>
        </p:spPr>
        <p:txBody>
          <a:bodyPr wrap="none" lIns="0" tIns="0" rIns="0" bIns="0" rtlCol="0" anchor="t"/>
          <a:lstStyle/>
          <a:p>
            <a:pPr algn="l" indent="0" marL="0">
              <a:lnSpc>
                <a:spcPts val="1500"/>
              </a:lnSpc>
              <a:buNone/>
            </a:pPr>
            <a:r>
              <a:rPr lang="en-US" sz="900" b="1" dirty="0">
                <a:solidFill>
                  <a:srgbClr val="15213F"/>
                </a:solidFill>
                <a:latin typeface="Roboto" pitchFamily="34" charset="0"/>
                <a:ea typeface="Roboto" pitchFamily="34" charset="-122"/>
                <a:cs typeface="Roboto" pitchFamily="34" charset="-120"/>
              </a:rPr>
              <a:t>More difficult! Requires:</a:t>
            </a:r>
            <a:endParaRPr lang="en-US" sz="900" dirty="0"/>
          </a:p>
        </p:txBody>
      </p:sp>
      <p:sp>
        <p:nvSpPr>
          <p:cNvPr id="13" name="Text 11"/>
          <p:cNvSpPr/>
          <p:nvPr/>
        </p:nvSpPr>
        <p:spPr>
          <a:xfrm>
            <a:off x="2965252" y="5024795"/>
            <a:ext cx="8699897" cy="192524"/>
          </a:xfrm>
          <a:prstGeom prst="rect">
            <a:avLst/>
          </a:prstGeom>
          <a:noFill/>
          <a:ln/>
        </p:spPr>
        <p:txBody>
          <a:bodyPr wrap="none" lIns="0" tIns="0" rIns="0" bIns="0" rtlCol="0" anchor="t"/>
          <a:lstStyle/>
          <a:p>
            <a:pPr algn="l" marL="342900" indent="-342900">
              <a:lnSpc>
                <a:spcPts val="1500"/>
              </a:lnSpc>
              <a:buSzPct val="100000"/>
              <a:buChar char="•"/>
            </a:pPr>
            <a:r>
              <a:rPr lang="en-US" sz="900" dirty="0">
                <a:solidFill>
                  <a:srgbClr val="15213F"/>
                </a:solidFill>
                <a:latin typeface="Roboto" pitchFamily="34" charset="0"/>
                <a:ea typeface="Roboto" pitchFamily="34" charset="-122"/>
                <a:cs typeface="Roboto" pitchFamily="34" charset="-120"/>
              </a:rPr>
              <a:t>Citation verification</a:t>
            </a:r>
            <a:endParaRPr lang="en-US" sz="900" dirty="0"/>
          </a:p>
        </p:txBody>
      </p:sp>
      <p:sp>
        <p:nvSpPr>
          <p:cNvPr id="14" name="Text 12"/>
          <p:cNvSpPr/>
          <p:nvPr/>
        </p:nvSpPr>
        <p:spPr>
          <a:xfrm>
            <a:off x="2965252" y="5259348"/>
            <a:ext cx="8699897" cy="192524"/>
          </a:xfrm>
          <a:prstGeom prst="rect">
            <a:avLst/>
          </a:prstGeom>
          <a:noFill/>
          <a:ln/>
        </p:spPr>
        <p:txBody>
          <a:bodyPr wrap="none" lIns="0" tIns="0" rIns="0" bIns="0" rtlCol="0" anchor="t"/>
          <a:lstStyle/>
          <a:p>
            <a:pPr algn="l" marL="342900" indent="-342900">
              <a:lnSpc>
                <a:spcPts val="1500"/>
              </a:lnSpc>
              <a:buSzPct val="100000"/>
              <a:buChar char="•"/>
            </a:pPr>
            <a:r>
              <a:rPr lang="en-US" sz="900" dirty="0">
                <a:solidFill>
                  <a:srgbClr val="15213F"/>
                </a:solidFill>
                <a:latin typeface="Roboto" pitchFamily="34" charset="0"/>
                <a:ea typeface="Roboto" pitchFamily="34" charset="-122"/>
                <a:cs typeface="Roboto" pitchFamily="34" charset="-120"/>
              </a:rPr>
              <a:t>Domain knowledge</a:t>
            </a:r>
            <a:endParaRPr lang="en-US" sz="900" dirty="0"/>
          </a:p>
        </p:txBody>
      </p:sp>
      <p:sp>
        <p:nvSpPr>
          <p:cNvPr id="15" name="Text 13"/>
          <p:cNvSpPr/>
          <p:nvPr/>
        </p:nvSpPr>
        <p:spPr>
          <a:xfrm>
            <a:off x="2965252" y="5493901"/>
            <a:ext cx="8699897" cy="192524"/>
          </a:xfrm>
          <a:prstGeom prst="rect">
            <a:avLst/>
          </a:prstGeom>
          <a:noFill/>
          <a:ln/>
        </p:spPr>
        <p:txBody>
          <a:bodyPr wrap="none" lIns="0" tIns="0" rIns="0" bIns="0" rtlCol="0" anchor="t"/>
          <a:lstStyle/>
          <a:p>
            <a:pPr algn="l" marL="342900" indent="-342900">
              <a:lnSpc>
                <a:spcPts val="1500"/>
              </a:lnSpc>
              <a:buSzPct val="100000"/>
              <a:buChar char="•"/>
            </a:pPr>
            <a:r>
              <a:rPr lang="en-US" sz="900" dirty="0">
                <a:solidFill>
                  <a:srgbClr val="15213F"/>
                </a:solidFill>
                <a:latin typeface="Roboto" pitchFamily="34" charset="0"/>
                <a:ea typeface="Roboto" pitchFamily="34" charset="-122"/>
                <a:cs typeface="Roboto" pitchFamily="34" charset="-120"/>
              </a:rPr>
              <a:t>Logical consistency checking</a:t>
            </a:r>
            <a:endParaRPr lang="en-US" sz="900" dirty="0"/>
          </a:p>
        </p:txBody>
      </p:sp>
      <p:sp>
        <p:nvSpPr>
          <p:cNvPr id="16" name="Text 14"/>
          <p:cNvSpPr/>
          <p:nvPr/>
        </p:nvSpPr>
        <p:spPr>
          <a:xfrm>
            <a:off x="2965252" y="5728454"/>
            <a:ext cx="8699897" cy="192524"/>
          </a:xfrm>
          <a:prstGeom prst="rect">
            <a:avLst/>
          </a:prstGeom>
          <a:noFill/>
          <a:ln/>
        </p:spPr>
        <p:txBody>
          <a:bodyPr wrap="none" lIns="0" tIns="0" rIns="0" bIns="0" rtlCol="0" anchor="t"/>
          <a:lstStyle/>
          <a:p>
            <a:pPr algn="l" marL="342900" indent="-342900">
              <a:lnSpc>
                <a:spcPts val="1500"/>
              </a:lnSpc>
              <a:buSzPct val="100000"/>
              <a:buChar char="•"/>
            </a:pPr>
            <a:r>
              <a:rPr lang="en-US" sz="900" dirty="0">
                <a:solidFill>
                  <a:srgbClr val="15213F"/>
                </a:solidFill>
                <a:latin typeface="Roboto" pitchFamily="34" charset="0"/>
                <a:ea typeface="Roboto" pitchFamily="34" charset="-122"/>
                <a:cs typeface="Roboto" pitchFamily="34" charset="-120"/>
              </a:rPr>
              <a:t>Statistical sense</a:t>
            </a:r>
            <a:endParaRPr lang="en-US" sz="900" dirty="0"/>
          </a:p>
        </p:txBody>
      </p:sp>
      <p:sp>
        <p:nvSpPr>
          <p:cNvPr id="17" name="Text 15"/>
          <p:cNvSpPr/>
          <p:nvPr/>
        </p:nvSpPr>
        <p:spPr>
          <a:xfrm>
            <a:off x="2965252" y="6056352"/>
            <a:ext cx="8699897" cy="192524"/>
          </a:xfrm>
          <a:prstGeom prst="rect">
            <a:avLst/>
          </a:prstGeom>
          <a:noFill/>
          <a:ln/>
        </p:spPr>
        <p:txBody>
          <a:bodyPr wrap="none" lIns="0" tIns="0" rIns="0" bIns="0" rtlCol="0" anchor="t"/>
          <a:lstStyle/>
          <a:p>
            <a:pPr algn="l" indent="0" marL="0">
              <a:lnSpc>
                <a:spcPts val="1500"/>
              </a:lnSpc>
              <a:buNone/>
            </a:pPr>
            <a:r>
              <a:rPr lang="en-US" sz="900" b="1" dirty="0">
                <a:solidFill>
                  <a:srgbClr val="15213F"/>
                </a:solidFill>
                <a:latin typeface="Roboto" pitchFamily="34" charset="0"/>
                <a:ea typeface="Roboto" pitchFamily="34" charset="-122"/>
                <a:cs typeface="Roboto" pitchFamily="34" charset="-120"/>
              </a:rPr>
              <a:t>Points:</a:t>
            </a:r>
            <a:pPr algn="l" indent="0" marL="0">
              <a:lnSpc>
                <a:spcPts val="1500"/>
              </a:lnSpc>
              <a:buNone/>
            </a:pPr>
            <a:r>
              <a:rPr lang="en-US" sz="900" dirty="0">
                <a:solidFill>
                  <a:srgbClr val="15213F"/>
                </a:solidFill>
                <a:latin typeface="Roboto" pitchFamily="34" charset="0"/>
                <a:ea typeface="Roboto" pitchFamily="34" charset="-122"/>
                <a:cs typeface="Roboto" pitchFamily="34" charset="-120"/>
              </a:rPr>
              <a:t> 20 per identification</a:t>
            </a:r>
            <a:endParaRPr lang="en-US" sz="900" dirty="0"/>
          </a:p>
        </p:txBody>
      </p:sp>
      <p:sp>
        <p:nvSpPr>
          <p:cNvPr id="18" name="Text 16"/>
          <p:cNvSpPr/>
          <p:nvPr/>
        </p:nvSpPr>
        <p:spPr>
          <a:xfrm>
            <a:off x="2965252" y="6384250"/>
            <a:ext cx="8699897" cy="192524"/>
          </a:xfrm>
          <a:prstGeom prst="rect">
            <a:avLst/>
          </a:prstGeom>
          <a:noFill/>
          <a:ln/>
        </p:spPr>
        <p:txBody>
          <a:bodyPr wrap="none" lIns="0" tIns="0" rIns="0" bIns="0" rtlCol="0" anchor="t"/>
          <a:lstStyle/>
          <a:p>
            <a:pPr algn="l" indent="0" marL="0">
              <a:lnSpc>
                <a:spcPts val="1500"/>
              </a:lnSpc>
              <a:buNone/>
            </a:pPr>
            <a:r>
              <a:rPr lang="en-US" sz="900" b="1" dirty="0">
                <a:solidFill>
                  <a:srgbClr val="15213F"/>
                </a:solidFill>
                <a:latin typeface="Roboto" pitchFamily="34" charset="0"/>
                <a:ea typeface="Roboto" pitchFamily="34" charset="-122"/>
                <a:cs typeface="Roboto" pitchFamily="34" charset="-120"/>
              </a:rPr>
              <a:t>Bonus:</a:t>
            </a:r>
            <a:pPr algn="l" indent="0" marL="0">
              <a:lnSpc>
                <a:spcPts val="1500"/>
              </a:lnSpc>
              <a:buNone/>
            </a:pPr>
            <a:r>
              <a:rPr lang="en-US" sz="900" dirty="0">
                <a:solidFill>
                  <a:srgbClr val="15213F"/>
                </a:solidFill>
                <a:latin typeface="Roboto" pitchFamily="34" charset="0"/>
                <a:ea typeface="Roboto" pitchFamily="34" charset="-122"/>
                <a:cs typeface="Roboto" pitchFamily="34" charset="-120"/>
              </a:rPr>
              <a:t> +10 for best explanation</a:t>
            </a:r>
            <a:endParaRPr lang="en-US" sz="900" dirty="0"/>
          </a:p>
        </p:txBody>
      </p:sp>
      <p:sp>
        <p:nvSpPr>
          <p:cNvPr id="19" name="Text 17"/>
          <p:cNvSpPr/>
          <p:nvPr/>
        </p:nvSpPr>
        <p:spPr>
          <a:xfrm>
            <a:off x="2965252" y="6712148"/>
            <a:ext cx="8699897" cy="192524"/>
          </a:xfrm>
          <a:prstGeom prst="rect">
            <a:avLst/>
          </a:prstGeom>
          <a:noFill/>
          <a:ln/>
        </p:spPr>
        <p:txBody>
          <a:bodyPr wrap="none" lIns="0" tIns="0" rIns="0" bIns="0" rtlCol="0" anchor="t"/>
          <a:lstStyle/>
          <a:p>
            <a:pPr algn="l" indent="0" marL="0">
              <a:lnSpc>
                <a:spcPts val="1500"/>
              </a:lnSpc>
              <a:buNone/>
            </a:pPr>
            <a:r>
              <a:rPr lang="en-US" sz="900" b="1" dirty="0">
                <a:solidFill>
                  <a:srgbClr val="15213F"/>
                </a:solidFill>
                <a:latin typeface="Roboto" pitchFamily="34" charset="0"/>
                <a:ea typeface="Roboto" pitchFamily="34" charset="-122"/>
                <a:cs typeface="Roboto" pitchFamily="34" charset="-120"/>
              </a:rPr>
              <a:t>Ready? Timer starts... NOW!</a:t>
            </a:r>
            <a:endParaRPr lang="en-US" sz="900" dirty="0"/>
          </a:p>
        </p:txBody>
      </p:sp>
      <p:sp>
        <p:nvSpPr>
          <p:cNvPr id="20" name="Text 18"/>
          <p:cNvSpPr/>
          <p:nvPr/>
        </p:nvSpPr>
        <p:spPr>
          <a:xfrm>
            <a:off x="2965252" y="7040047"/>
            <a:ext cx="8699897" cy="385048"/>
          </a:xfrm>
          <a:prstGeom prst="rect">
            <a:avLst/>
          </a:prstGeom>
          <a:noFill/>
          <a:ln/>
        </p:spPr>
        <p:txBody>
          <a:bodyPr wrap="square" lIns="0" tIns="0" rIns="0" bIns="0" rtlCol="0" anchor="t"/>
          <a:lstStyle/>
          <a:p>
            <a:pPr algn="l" indent="0" marL="0">
              <a:lnSpc>
                <a:spcPts val="1500"/>
              </a:lnSpc>
              <a:buNone/>
            </a:pPr>
            <a:r>
              <a:rPr lang="en-US" sz="900" dirty="0">
                <a:solidFill>
                  <a:srgbClr val="15213F"/>
                </a:solidFill>
                <a:latin typeface="Roboto" pitchFamily="34" charset="0"/>
                <a:ea typeface="Roboto" pitchFamily="34" charset="-122"/>
                <a:cs typeface="Roboto" pitchFamily="34" charset="-120"/>
              </a:rPr>
              <a:t>Round 2: The Challenge! Eight minutes, five subtle errors. These are harder - require careful verification and domain knowledge. Not obvious at first glance. Twenty points each, bonus ten for best explanation. Read carefully! Timer starts... now! [Monitor progress, provide hints if all teams stuck, one-minute warning, call time]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200507" y="597098"/>
            <a:ext cx="7520345" cy="528638"/>
          </a:xfrm>
          <a:prstGeom prst="rect">
            <a:avLst/>
          </a:prstGeom>
          <a:noFill/>
          <a:ln/>
        </p:spPr>
        <p:txBody>
          <a:bodyPr wrap="none" lIns="0" tIns="0" rIns="0" bIns="0" rtlCol="0" anchor="t"/>
          <a:lstStyle/>
          <a:p>
            <a:pPr algn="l" indent="0" marL="0">
              <a:lnSpc>
                <a:spcPts val="4150"/>
              </a:lnSpc>
              <a:buNone/>
            </a:pPr>
            <a:r>
              <a:rPr lang="en-US" sz="3300" dirty="0">
                <a:solidFill>
                  <a:srgbClr val="3257B8"/>
                </a:solidFill>
                <a:latin typeface="Roboto Slab" pitchFamily="34" charset="0"/>
                <a:ea typeface="Roboto Slab" pitchFamily="34" charset="-122"/>
                <a:cs typeface="Roboto Slab" pitchFamily="34" charset="-120"/>
              </a:rPr>
              <a:t>Round 2 - Answers &amp; Deep Discussion</a:t>
            </a:r>
            <a:endParaRPr lang="en-US" sz="3300" dirty="0"/>
          </a:p>
        </p:txBody>
      </p:sp>
      <p:sp>
        <p:nvSpPr>
          <p:cNvPr id="3" name="Text 1"/>
          <p:cNvSpPr/>
          <p:nvPr/>
        </p:nvSpPr>
        <p:spPr>
          <a:xfrm>
            <a:off x="1200507" y="1193363"/>
            <a:ext cx="5824537" cy="422910"/>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Round 2 Answers (The Tricky Ones):</a:t>
            </a:r>
            <a:endParaRPr lang="en-US" sz="2650" dirty="0"/>
          </a:p>
        </p:txBody>
      </p:sp>
      <p:sp>
        <p:nvSpPr>
          <p:cNvPr id="4" name="Text 2"/>
          <p:cNvSpPr/>
          <p:nvPr/>
        </p:nvSpPr>
        <p:spPr>
          <a:xfrm>
            <a:off x="1200507" y="1869996"/>
            <a:ext cx="169069" cy="211455"/>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Slab Light" pitchFamily="34" charset="0"/>
                <a:ea typeface="Roboto Slab Light" pitchFamily="34" charset="-122"/>
                <a:cs typeface="Roboto Slab Light" pitchFamily="34" charset="-120"/>
              </a:rPr>
              <a:t>01</a:t>
            </a:r>
            <a:endParaRPr lang="en-US" sz="1300" dirty="0"/>
          </a:p>
        </p:txBody>
      </p:sp>
      <p:pic>
        <p:nvPicPr>
          <p:cNvPr id="5" name="Image 0" descr="preencoded.png">    </p:cNvPr>
          <p:cNvPicPr>
            <a:picLocks noChangeAspect="1"/>
          </p:cNvPicPr>
          <p:nvPr/>
        </p:nvPicPr>
        <p:blipFill>
          <a:blip r:embed="rId1"/>
          <a:stretch>
            <a:fillRect/>
          </a:stretch>
        </p:blipFill>
        <p:spPr>
          <a:xfrm>
            <a:off x="1200507" y="2134672"/>
            <a:ext cx="3963710" cy="22860"/>
          </a:xfrm>
          <a:prstGeom prst="rect">
            <a:avLst/>
          </a:prstGeom>
        </p:spPr>
      </p:pic>
      <p:sp>
        <p:nvSpPr>
          <p:cNvPr id="6" name="Text 3"/>
          <p:cNvSpPr/>
          <p:nvPr/>
        </p:nvSpPr>
        <p:spPr>
          <a:xfrm>
            <a:off x="1200507" y="2264926"/>
            <a:ext cx="3963710" cy="528638"/>
          </a:xfrm>
          <a:prstGeom prst="rect">
            <a:avLst/>
          </a:prstGeom>
          <a:noFill/>
          <a:ln/>
        </p:spPr>
        <p:txBody>
          <a:bodyPr wrap="squar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Citation - Chen et al. (2023), DOI: 10.1016/j.polymer.2023.125874</a:t>
            </a:r>
            <a:endParaRPr lang="en-US" sz="1650" dirty="0"/>
          </a:p>
        </p:txBody>
      </p:sp>
      <p:sp>
        <p:nvSpPr>
          <p:cNvPr id="7" name="Text 4"/>
          <p:cNvSpPr/>
          <p:nvPr/>
        </p:nvSpPr>
        <p:spPr>
          <a:xfrm>
            <a:off x="1200507" y="2895005"/>
            <a:ext cx="3963710" cy="270629"/>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DOI resolves but to DIFFERENT paper/authors</a:t>
            </a:r>
            <a:endParaRPr lang="en-US" sz="1300" dirty="0"/>
          </a:p>
        </p:txBody>
      </p:sp>
      <p:sp>
        <p:nvSpPr>
          <p:cNvPr id="8" name="Text 5"/>
          <p:cNvSpPr/>
          <p:nvPr/>
        </p:nvSpPr>
        <p:spPr>
          <a:xfrm>
            <a:off x="1200507" y="3267075"/>
            <a:ext cx="3963710" cy="270629"/>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Verification: Check actual paper content</a:t>
            </a:r>
            <a:endParaRPr lang="en-US" sz="1300" dirty="0"/>
          </a:p>
        </p:txBody>
      </p:sp>
      <p:sp>
        <p:nvSpPr>
          <p:cNvPr id="9" name="Text 6"/>
          <p:cNvSpPr/>
          <p:nvPr/>
        </p:nvSpPr>
        <p:spPr>
          <a:xfrm>
            <a:off x="5333286" y="1869996"/>
            <a:ext cx="169069" cy="211455"/>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Slab Light" pitchFamily="34" charset="0"/>
                <a:ea typeface="Roboto Slab Light" pitchFamily="34" charset="-122"/>
                <a:cs typeface="Roboto Slab Light" pitchFamily="34" charset="-120"/>
              </a:rPr>
              <a:t>02</a:t>
            </a:r>
            <a:endParaRPr lang="en-US" sz="1300" dirty="0"/>
          </a:p>
        </p:txBody>
      </p:sp>
      <p:pic>
        <p:nvPicPr>
          <p:cNvPr id="10" name="Image 1" descr="preencoded.png">    </p:cNvPr>
          <p:cNvPicPr>
            <a:picLocks noChangeAspect="1"/>
          </p:cNvPicPr>
          <p:nvPr/>
        </p:nvPicPr>
        <p:blipFill>
          <a:blip r:embed="rId2"/>
          <a:stretch>
            <a:fillRect/>
          </a:stretch>
        </p:blipFill>
        <p:spPr>
          <a:xfrm>
            <a:off x="5333286" y="2134672"/>
            <a:ext cx="3963710" cy="22860"/>
          </a:xfrm>
          <a:prstGeom prst="rect">
            <a:avLst/>
          </a:prstGeom>
        </p:spPr>
      </p:pic>
      <p:sp>
        <p:nvSpPr>
          <p:cNvPr id="11" name="Text 7"/>
          <p:cNvSpPr/>
          <p:nvPr/>
        </p:nvSpPr>
        <p:spPr>
          <a:xfrm>
            <a:off x="5333286" y="2264926"/>
            <a:ext cx="3963710" cy="528638"/>
          </a:xfrm>
          <a:prstGeom prst="rect">
            <a:avLst/>
          </a:prstGeom>
          <a:noFill/>
          <a:ln/>
        </p:spPr>
        <p:txBody>
          <a:bodyPr wrap="squar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"Modulus increased 176% AND ductility increased 28%"</a:t>
            </a:r>
            <a:endParaRPr lang="en-US" sz="1650" dirty="0"/>
          </a:p>
        </p:txBody>
      </p:sp>
      <p:sp>
        <p:nvSpPr>
          <p:cNvPr id="12" name="Text 8"/>
          <p:cNvSpPr/>
          <p:nvPr/>
        </p:nvSpPr>
        <p:spPr>
          <a:xfrm>
            <a:off x="5333286" y="2895005"/>
            <a:ext cx="3963710" cy="541258"/>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Simultaneous improvement is unusual (typically trade-off)</a:t>
            </a:r>
            <a:endParaRPr lang="en-US" sz="1300" dirty="0"/>
          </a:p>
        </p:txBody>
      </p:sp>
      <p:sp>
        <p:nvSpPr>
          <p:cNvPr id="13" name="Text 9"/>
          <p:cNvSpPr/>
          <p:nvPr/>
        </p:nvSpPr>
        <p:spPr>
          <a:xfrm>
            <a:off x="5333286" y="3537704"/>
            <a:ext cx="3963710" cy="270629"/>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Verification: Materials science intuition + literature</a:t>
            </a:r>
            <a:endParaRPr lang="en-US" sz="1300" dirty="0"/>
          </a:p>
        </p:txBody>
      </p:sp>
      <p:sp>
        <p:nvSpPr>
          <p:cNvPr id="14" name="Text 10"/>
          <p:cNvSpPr/>
          <p:nvPr/>
        </p:nvSpPr>
        <p:spPr>
          <a:xfrm>
            <a:off x="9466064" y="1869996"/>
            <a:ext cx="169069" cy="211455"/>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Slab Light" pitchFamily="34" charset="0"/>
                <a:ea typeface="Roboto Slab Light" pitchFamily="34" charset="-122"/>
                <a:cs typeface="Roboto Slab Light" pitchFamily="34" charset="-120"/>
              </a:rPr>
              <a:t>03</a:t>
            </a:r>
            <a:endParaRPr lang="en-US" sz="1300" dirty="0"/>
          </a:p>
        </p:txBody>
      </p:sp>
      <p:pic>
        <p:nvPicPr>
          <p:cNvPr id="15" name="Image 2" descr="preencoded.png">    </p:cNvPr>
          <p:cNvPicPr>
            <a:picLocks noChangeAspect="1"/>
          </p:cNvPicPr>
          <p:nvPr/>
        </p:nvPicPr>
        <p:blipFill>
          <a:blip r:embed="rId3"/>
          <a:stretch>
            <a:fillRect/>
          </a:stretch>
        </p:blipFill>
        <p:spPr>
          <a:xfrm>
            <a:off x="9466064" y="2151578"/>
            <a:ext cx="3963710" cy="22860"/>
          </a:xfrm>
          <a:prstGeom prst="rect">
            <a:avLst/>
          </a:prstGeom>
        </p:spPr>
      </p:pic>
      <p:sp>
        <p:nvSpPr>
          <p:cNvPr id="16" name="Text 11"/>
          <p:cNvSpPr/>
          <p:nvPr/>
        </p:nvSpPr>
        <p:spPr>
          <a:xfrm>
            <a:off x="9466064" y="2264926"/>
            <a:ext cx="3634383" cy="264319"/>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"Quantum-tunnelling XPS (QT-XPS)"</a:t>
            </a:r>
            <a:endParaRPr lang="en-US" sz="1650" dirty="0"/>
          </a:p>
        </p:txBody>
      </p:sp>
      <p:sp>
        <p:nvSpPr>
          <p:cNvPr id="17" name="Text 12"/>
          <p:cNvSpPr/>
          <p:nvPr/>
        </p:nvSpPr>
        <p:spPr>
          <a:xfrm>
            <a:off x="9466064" y="2630686"/>
            <a:ext cx="3963710" cy="270629"/>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Plausible-sounding but doesn't exist</a:t>
            </a:r>
            <a:endParaRPr lang="en-US" sz="1300" dirty="0"/>
          </a:p>
        </p:txBody>
      </p:sp>
      <p:sp>
        <p:nvSpPr>
          <p:cNvPr id="18" name="Text 13"/>
          <p:cNvSpPr/>
          <p:nvPr/>
        </p:nvSpPr>
        <p:spPr>
          <a:xfrm>
            <a:off x="9466064" y="3002756"/>
            <a:ext cx="3963710" cy="270629"/>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Verification: Technique database, literature search</a:t>
            </a:r>
            <a:endParaRPr lang="en-US" sz="1300" dirty="0"/>
          </a:p>
        </p:txBody>
      </p:sp>
      <p:sp>
        <p:nvSpPr>
          <p:cNvPr id="19" name="Text 14"/>
          <p:cNvSpPr/>
          <p:nvPr/>
        </p:nvSpPr>
        <p:spPr>
          <a:xfrm>
            <a:off x="1200507" y="4104203"/>
            <a:ext cx="169069" cy="211455"/>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Slab Light" pitchFamily="34" charset="0"/>
                <a:ea typeface="Roboto Slab Light" pitchFamily="34" charset="-122"/>
                <a:cs typeface="Roboto Slab Light" pitchFamily="34" charset="-120"/>
              </a:rPr>
              <a:t>04</a:t>
            </a:r>
            <a:endParaRPr lang="en-US" sz="1300" dirty="0"/>
          </a:p>
        </p:txBody>
      </p:sp>
      <p:pic>
        <p:nvPicPr>
          <p:cNvPr id="20" name="Image 3" descr="preencoded.png">    </p:cNvPr>
          <p:cNvPicPr>
            <a:picLocks noChangeAspect="1"/>
          </p:cNvPicPr>
          <p:nvPr/>
        </p:nvPicPr>
        <p:blipFill>
          <a:blip r:embed="rId4"/>
          <a:stretch>
            <a:fillRect/>
          </a:stretch>
        </p:blipFill>
        <p:spPr>
          <a:xfrm>
            <a:off x="1200507" y="4351973"/>
            <a:ext cx="6030039" cy="22860"/>
          </a:xfrm>
          <a:prstGeom prst="rect">
            <a:avLst/>
          </a:prstGeom>
        </p:spPr>
      </p:pic>
      <p:sp>
        <p:nvSpPr>
          <p:cNvPr id="21" name="Text 15"/>
          <p:cNvSpPr/>
          <p:nvPr/>
        </p:nvSpPr>
        <p:spPr>
          <a:xfrm>
            <a:off x="1200507" y="4499134"/>
            <a:ext cx="3964186" cy="264319"/>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"C/O ratio 16.5 indicating 85% reduction"</a:t>
            </a:r>
            <a:endParaRPr lang="en-US" sz="1650" dirty="0"/>
          </a:p>
        </p:txBody>
      </p:sp>
      <p:sp>
        <p:nvSpPr>
          <p:cNvPr id="22" name="Text 16"/>
          <p:cNvSpPr/>
          <p:nvPr/>
        </p:nvSpPr>
        <p:spPr>
          <a:xfrm>
            <a:off x="1200507" y="4864894"/>
            <a:ext cx="6030039" cy="270629"/>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Maths doesn't work (starting ratio 2.2 → 16.5)</a:t>
            </a:r>
            <a:endParaRPr lang="en-US" sz="1300" dirty="0"/>
          </a:p>
        </p:txBody>
      </p:sp>
      <p:sp>
        <p:nvSpPr>
          <p:cNvPr id="23" name="Text 17"/>
          <p:cNvSpPr/>
          <p:nvPr/>
        </p:nvSpPr>
        <p:spPr>
          <a:xfrm>
            <a:off x="1200507" y="5236964"/>
            <a:ext cx="6030039" cy="270629"/>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Verification: Calculate yourself</a:t>
            </a:r>
            <a:endParaRPr lang="en-US" sz="1300" dirty="0"/>
          </a:p>
        </p:txBody>
      </p:sp>
      <p:sp>
        <p:nvSpPr>
          <p:cNvPr id="24" name="Text 18"/>
          <p:cNvSpPr/>
          <p:nvPr/>
        </p:nvSpPr>
        <p:spPr>
          <a:xfrm>
            <a:off x="7399615" y="4104203"/>
            <a:ext cx="169069" cy="211455"/>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Slab Light" pitchFamily="34" charset="0"/>
                <a:ea typeface="Roboto Slab Light" pitchFamily="34" charset="-122"/>
                <a:cs typeface="Roboto Slab Light" pitchFamily="34" charset="-120"/>
              </a:rPr>
              <a:t>05</a:t>
            </a:r>
            <a:endParaRPr lang="en-US" sz="1300" dirty="0"/>
          </a:p>
        </p:txBody>
      </p:sp>
      <p:pic>
        <p:nvPicPr>
          <p:cNvPr id="25" name="Image 4" descr="preencoded.png">    </p:cNvPr>
          <p:cNvPicPr>
            <a:picLocks noChangeAspect="1"/>
          </p:cNvPicPr>
          <p:nvPr/>
        </p:nvPicPr>
        <p:blipFill>
          <a:blip r:embed="rId5"/>
          <a:stretch>
            <a:fillRect/>
          </a:stretch>
        </p:blipFill>
        <p:spPr>
          <a:xfrm>
            <a:off x="7399615" y="4351973"/>
            <a:ext cx="6030158" cy="22860"/>
          </a:xfrm>
          <a:prstGeom prst="rect">
            <a:avLst/>
          </a:prstGeom>
        </p:spPr>
      </p:pic>
      <p:sp>
        <p:nvSpPr>
          <p:cNvPr id="26" name="Text 19"/>
          <p:cNvSpPr/>
          <p:nvPr/>
        </p:nvSpPr>
        <p:spPr>
          <a:xfrm>
            <a:off x="7399615" y="4499134"/>
            <a:ext cx="6030158" cy="528638"/>
          </a:xfrm>
          <a:prstGeom prst="rect">
            <a:avLst/>
          </a:prstGeom>
          <a:noFill/>
          <a:ln/>
        </p:spPr>
        <p:txBody>
          <a:bodyPr wrap="squar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"Method pioneered by Smalley and Kroto (1991) for CNT functionalisation"</a:t>
            </a:r>
            <a:endParaRPr lang="en-US" sz="1650" dirty="0"/>
          </a:p>
        </p:txBody>
      </p:sp>
      <p:sp>
        <p:nvSpPr>
          <p:cNvPr id="27" name="Text 20"/>
          <p:cNvSpPr/>
          <p:nvPr/>
        </p:nvSpPr>
        <p:spPr>
          <a:xfrm>
            <a:off x="7399615" y="5129213"/>
            <a:ext cx="6030158" cy="270629"/>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Smalley/Kroto worked on fullerenes, not CNTs</a:t>
            </a:r>
            <a:endParaRPr lang="en-US" sz="1300" dirty="0"/>
          </a:p>
        </p:txBody>
      </p:sp>
      <p:sp>
        <p:nvSpPr>
          <p:cNvPr id="28" name="Text 21"/>
          <p:cNvSpPr/>
          <p:nvPr/>
        </p:nvSpPr>
        <p:spPr>
          <a:xfrm>
            <a:off x="7399615" y="5501283"/>
            <a:ext cx="6030158" cy="270629"/>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 Verification: Scientific history knowledge</a:t>
            </a:r>
            <a:endParaRPr lang="en-US" sz="1300" dirty="0"/>
          </a:p>
        </p:txBody>
      </p:sp>
      <p:sp>
        <p:nvSpPr>
          <p:cNvPr id="29" name="Text 22"/>
          <p:cNvSpPr/>
          <p:nvPr/>
        </p:nvSpPr>
        <p:spPr>
          <a:xfrm>
            <a:off x="1200507" y="6088975"/>
            <a:ext cx="12229267" cy="270629"/>
          </a:xfrm>
          <a:prstGeom prst="rect">
            <a:avLst/>
          </a:prstGeom>
          <a:noFill/>
          <a:ln/>
        </p:spPr>
        <p:txBody>
          <a:bodyPr wrap="none" lIns="0" tIns="0" rIns="0" bIns="0" rtlCol="0" anchor="t"/>
          <a:lstStyle/>
          <a:p>
            <a:pPr algn="l" indent="0" marL="0">
              <a:lnSpc>
                <a:spcPts val="2100"/>
              </a:lnSpc>
              <a:buNone/>
            </a:pPr>
            <a:r>
              <a:rPr lang="en-US" sz="1300" b="1" dirty="0">
                <a:solidFill>
                  <a:srgbClr val="15213F"/>
                </a:solidFill>
                <a:latin typeface="Roboto" pitchFamily="34" charset="0"/>
                <a:ea typeface="Roboto" pitchFamily="34" charset="-122"/>
                <a:cs typeface="Roboto" pitchFamily="34" charset="-120"/>
              </a:rPr>
              <a:t>Discussion: Which was hardest to spot?</a:t>
            </a:r>
            <a:endParaRPr lang="en-US" sz="1300" dirty="0"/>
          </a:p>
        </p:txBody>
      </p:sp>
      <p:sp>
        <p:nvSpPr>
          <p:cNvPr id="30" name="Text 23"/>
          <p:cNvSpPr/>
          <p:nvPr/>
        </p:nvSpPr>
        <p:spPr>
          <a:xfrm>
            <a:off x="1200507" y="6549866"/>
            <a:ext cx="12229267" cy="1082516"/>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These were tougher! Error 1: DOI resolves, but to wrong paper - AI combined real DOI with wrong authors. Always check actual content. Error 2: Simultaneous modulus and ductility increase - possible but rare, requires verification. Your materials intuition should flag this. Error 3: QT-XPS sounds plausible but doesn't exist. Error 4: Maths doesn't work - always calculate claims. Error 5: Wrong attribution - Smalley worked on fullerenes, not CNTs. Teams, report your catches! [Score and discuss. Ask which was hardest.]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204799" y="388739"/>
            <a:ext cx="3864769" cy="441841"/>
          </a:xfrm>
          <a:prstGeom prst="rect">
            <a:avLst/>
          </a:prstGeom>
          <a:noFill/>
          <a:ln/>
        </p:spPr>
        <p:txBody>
          <a:bodyPr wrap="none" lIns="0" tIns="0" rIns="0" bIns="0" rtlCol="0" anchor="t"/>
          <a:lstStyle/>
          <a:p>
            <a:pPr algn="l" indent="0" marL="0">
              <a:lnSpc>
                <a:spcPts val="3450"/>
              </a:lnSpc>
              <a:buNone/>
            </a:pPr>
            <a:r>
              <a:rPr lang="en-US" sz="2750" dirty="0">
                <a:solidFill>
                  <a:srgbClr val="3257B8"/>
                </a:solidFill>
                <a:latin typeface="Roboto Slab" pitchFamily="34" charset="0"/>
                <a:ea typeface="Roboto Slab" pitchFamily="34" charset="-122"/>
                <a:cs typeface="Roboto Slab" pitchFamily="34" charset="-120"/>
              </a:rPr>
              <a:t>Round 3 - Speed Round</a:t>
            </a:r>
            <a:endParaRPr lang="en-US" sz="2750" dirty="0"/>
          </a:p>
        </p:txBody>
      </p:sp>
      <p:sp>
        <p:nvSpPr>
          <p:cNvPr id="3" name="Text 1"/>
          <p:cNvSpPr/>
          <p:nvPr/>
        </p:nvSpPr>
        <p:spPr>
          <a:xfrm>
            <a:off x="2204799" y="1042630"/>
            <a:ext cx="10220682" cy="1325523"/>
          </a:xfrm>
          <a:prstGeom prst="rect">
            <a:avLst/>
          </a:prstGeom>
          <a:noFill/>
          <a:ln/>
        </p:spPr>
        <p:txBody>
          <a:bodyPr wrap="none" lIns="0" tIns="0" rIns="0" bIns="0" rtlCol="0" anchor="t"/>
          <a:lstStyle/>
          <a:p>
            <a:pPr algn="l" indent="0" marL="0">
              <a:lnSpc>
                <a:spcPts val="10400"/>
              </a:lnSpc>
              <a:buNone/>
            </a:pPr>
            <a:r>
              <a:rPr lang="en-US" sz="8350" dirty="0">
                <a:solidFill>
                  <a:srgbClr val="3257B8"/>
                </a:solidFill>
                <a:latin typeface="Roboto Slab" pitchFamily="34" charset="0"/>
                <a:ea typeface="Roboto Slab" pitchFamily="34" charset="-122"/>
                <a:cs typeface="Roboto Slab" pitchFamily="34" charset="-120"/>
              </a:rPr>
              <a:t>ROUND 3</a:t>
            </a:r>
            <a:endParaRPr lang="en-US" sz="8350" dirty="0"/>
          </a:p>
        </p:txBody>
      </p:sp>
      <p:sp>
        <p:nvSpPr>
          <p:cNvPr id="4" name="Text 2"/>
          <p:cNvSpPr/>
          <p:nvPr/>
        </p:nvSpPr>
        <p:spPr>
          <a:xfrm>
            <a:off x="2204799" y="2580203"/>
            <a:ext cx="3531156" cy="353378"/>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SPEED ROUND (5 minutes)</a:t>
            </a:r>
            <a:endParaRPr lang="en-US" sz="2200" dirty="0"/>
          </a:p>
        </p:txBody>
      </p:sp>
      <p:sp>
        <p:nvSpPr>
          <p:cNvPr id="5" name="Text 3"/>
          <p:cNvSpPr/>
          <p:nvPr/>
        </p:nvSpPr>
        <p:spPr>
          <a:xfrm>
            <a:off x="2204799" y="3145631"/>
            <a:ext cx="10220682" cy="226219"/>
          </a:xfrm>
          <a:prstGeom prst="rect">
            <a:avLst/>
          </a:prstGeom>
          <a:noFill/>
          <a:ln/>
        </p:spPr>
        <p:txBody>
          <a:bodyPr wrap="none" lIns="0" tIns="0" rIns="0" bIns="0" rtlCol="0" anchor="t"/>
          <a:lstStyle/>
          <a:p>
            <a:pPr algn="l" indent="0" marL="0">
              <a:lnSpc>
                <a:spcPts val="1750"/>
              </a:lnSpc>
              <a:buNone/>
            </a:pPr>
            <a:r>
              <a:rPr lang="en-US" sz="1100" b="1" dirty="0">
                <a:solidFill>
                  <a:srgbClr val="15213F"/>
                </a:solidFill>
                <a:latin typeface="Roboto" pitchFamily="34" charset="0"/>
                <a:ea typeface="Roboto" pitchFamily="34" charset="-122"/>
                <a:cs typeface="Roboto" pitchFamily="34" charset="-120"/>
              </a:rPr>
              <a:t>10 short texts, each with 1 error</a:t>
            </a:r>
            <a:endParaRPr lang="en-US" sz="1100" dirty="0"/>
          </a:p>
        </p:txBody>
      </p:sp>
      <p:sp>
        <p:nvSpPr>
          <p:cNvPr id="6" name="Text 4"/>
          <p:cNvSpPr/>
          <p:nvPr/>
        </p:nvSpPr>
        <p:spPr>
          <a:xfrm>
            <a:off x="2204799" y="3530918"/>
            <a:ext cx="10220682" cy="226219"/>
          </a:xfrm>
          <a:prstGeom prst="rect">
            <a:avLst/>
          </a:prstGeom>
          <a:noFill/>
          <a:ln/>
        </p:spPr>
        <p:txBody>
          <a:bodyPr wrap="none" lIns="0" tIns="0" rIns="0" bIns="0" rtlCol="0" anchor="t"/>
          <a:lstStyle/>
          <a:p>
            <a:pPr algn="l" indent="0" marL="0">
              <a:lnSpc>
                <a:spcPts val="1750"/>
              </a:lnSpc>
              <a:buNone/>
            </a:pPr>
            <a:r>
              <a:rPr lang="en-US" sz="1100" b="1" dirty="0">
                <a:solidFill>
                  <a:srgbClr val="15213F"/>
                </a:solidFill>
                <a:latin typeface="Roboto" pitchFamily="34" charset="0"/>
                <a:ea typeface="Roboto" pitchFamily="34" charset="-122"/>
                <a:cs typeface="Roboto" pitchFamily="34" charset="-120"/>
              </a:rPr>
              <a:t>Format:</a:t>
            </a:r>
            <a:pPr algn="l" indent="0" marL="0">
              <a:lnSpc>
                <a:spcPts val="1750"/>
              </a:lnSpc>
              <a:buNone/>
            </a:pPr>
            <a:r>
              <a:rPr lang="en-US" sz="1100" dirty="0">
                <a:solidFill>
                  <a:srgbClr val="15213F"/>
                </a:solidFill>
                <a:latin typeface="Roboto" pitchFamily="34" charset="0"/>
                <a:ea typeface="Roboto" pitchFamily="34" charset="-122"/>
                <a:cs typeface="Roboto" pitchFamily="34" charset="-120"/>
              </a:rPr>
              <a:t> Fast-paced identification</a:t>
            </a:r>
            <a:endParaRPr lang="en-US" sz="1100" dirty="0"/>
          </a:p>
        </p:txBody>
      </p:sp>
      <p:sp>
        <p:nvSpPr>
          <p:cNvPr id="7" name="Text 5"/>
          <p:cNvSpPr/>
          <p:nvPr/>
        </p:nvSpPr>
        <p:spPr>
          <a:xfrm>
            <a:off x="2204799" y="3916204"/>
            <a:ext cx="10220682"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15213F"/>
                </a:solidFill>
                <a:latin typeface="Roboto" pitchFamily="34" charset="0"/>
                <a:ea typeface="Roboto" pitchFamily="34" charset="-122"/>
                <a:cs typeface="Roboto" pitchFamily="34" charset="-120"/>
              </a:rPr>
              <a:t>Read text</a:t>
            </a:r>
            <a:endParaRPr lang="en-US" sz="1100" dirty="0"/>
          </a:p>
        </p:txBody>
      </p:sp>
      <p:sp>
        <p:nvSpPr>
          <p:cNvPr id="8" name="Text 6"/>
          <p:cNvSpPr/>
          <p:nvPr/>
        </p:nvSpPr>
        <p:spPr>
          <a:xfrm>
            <a:off x="2204799" y="4191833"/>
            <a:ext cx="10220682"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15213F"/>
                </a:solidFill>
                <a:latin typeface="Roboto" pitchFamily="34" charset="0"/>
                <a:ea typeface="Roboto" pitchFamily="34" charset="-122"/>
                <a:cs typeface="Roboto" pitchFamily="34" charset="-120"/>
              </a:rPr>
              <a:t>Spot error</a:t>
            </a:r>
            <a:endParaRPr lang="en-US" sz="1100" dirty="0"/>
          </a:p>
        </p:txBody>
      </p:sp>
      <p:sp>
        <p:nvSpPr>
          <p:cNvPr id="9" name="Text 7"/>
          <p:cNvSpPr/>
          <p:nvPr/>
        </p:nvSpPr>
        <p:spPr>
          <a:xfrm>
            <a:off x="2204799" y="4467463"/>
            <a:ext cx="10220682" cy="226219"/>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15213F"/>
                </a:solidFill>
                <a:latin typeface="Roboto" pitchFamily="34" charset="0"/>
                <a:ea typeface="Roboto" pitchFamily="34" charset="-122"/>
                <a:cs typeface="Roboto" pitchFamily="34" charset="-120"/>
              </a:rPr>
              <a:t>Move to next</a:t>
            </a:r>
            <a:endParaRPr lang="en-US" sz="1100" dirty="0"/>
          </a:p>
        </p:txBody>
      </p:sp>
      <p:sp>
        <p:nvSpPr>
          <p:cNvPr id="10" name="Text 8"/>
          <p:cNvSpPr/>
          <p:nvPr/>
        </p:nvSpPr>
        <p:spPr>
          <a:xfrm>
            <a:off x="2204799" y="4852749"/>
            <a:ext cx="10220682" cy="226219"/>
          </a:xfrm>
          <a:prstGeom prst="rect">
            <a:avLst/>
          </a:prstGeom>
          <a:noFill/>
          <a:ln/>
        </p:spPr>
        <p:txBody>
          <a:bodyPr wrap="none" lIns="0" tIns="0" rIns="0" bIns="0" rtlCol="0" anchor="t"/>
          <a:lstStyle/>
          <a:p>
            <a:pPr algn="l" indent="0" marL="0">
              <a:lnSpc>
                <a:spcPts val="1750"/>
              </a:lnSpc>
              <a:buNone/>
            </a:pPr>
            <a:r>
              <a:rPr lang="en-US" sz="1100" b="1" dirty="0">
                <a:solidFill>
                  <a:srgbClr val="15213F"/>
                </a:solidFill>
                <a:latin typeface="Roboto" pitchFamily="34" charset="0"/>
                <a:ea typeface="Roboto" pitchFamily="34" charset="-122"/>
                <a:cs typeface="Roboto" pitchFamily="34" charset="-120"/>
              </a:rPr>
              <a:t>Points:</a:t>
            </a:r>
            <a:pPr algn="l" indent="0" marL="0">
              <a:lnSpc>
                <a:spcPts val="1750"/>
              </a:lnSpc>
              <a:buNone/>
            </a:pPr>
            <a:r>
              <a:rPr lang="en-US" sz="1100" dirty="0">
                <a:solidFill>
                  <a:srgbClr val="15213F"/>
                </a:solidFill>
                <a:latin typeface="Roboto" pitchFamily="34" charset="0"/>
                <a:ea typeface="Roboto" pitchFamily="34" charset="-122"/>
                <a:cs typeface="Roboto" pitchFamily="34" charset="-120"/>
              </a:rPr>
              <a:t> 15 per correct identification</a:t>
            </a:r>
            <a:endParaRPr lang="en-US" sz="1100" dirty="0"/>
          </a:p>
        </p:txBody>
      </p:sp>
      <p:sp>
        <p:nvSpPr>
          <p:cNvPr id="11" name="Text 9"/>
          <p:cNvSpPr/>
          <p:nvPr/>
        </p:nvSpPr>
        <p:spPr>
          <a:xfrm>
            <a:off x="2204799" y="5238036"/>
            <a:ext cx="10220682" cy="226219"/>
          </a:xfrm>
          <a:prstGeom prst="rect">
            <a:avLst/>
          </a:prstGeom>
          <a:noFill/>
          <a:ln/>
        </p:spPr>
        <p:txBody>
          <a:bodyPr wrap="none" lIns="0" tIns="0" rIns="0" bIns="0" rtlCol="0" anchor="t"/>
          <a:lstStyle/>
          <a:p>
            <a:pPr algn="l" indent="0" marL="0">
              <a:lnSpc>
                <a:spcPts val="1750"/>
              </a:lnSpc>
              <a:buNone/>
            </a:pPr>
            <a:r>
              <a:rPr lang="en-US" sz="1100" b="1" dirty="0">
                <a:solidFill>
                  <a:srgbClr val="15213F"/>
                </a:solidFill>
                <a:latin typeface="Roboto" pitchFamily="34" charset="0"/>
                <a:ea typeface="Roboto" pitchFamily="34" charset="-122"/>
                <a:cs typeface="Roboto" pitchFamily="34" charset="-120"/>
              </a:rPr>
              <a:t>Speed Bonus:</a:t>
            </a:r>
            <a:pPr algn="l" indent="0" marL="0">
              <a:lnSpc>
                <a:spcPts val="1750"/>
              </a:lnSpc>
              <a:buNone/>
            </a:pPr>
            <a:r>
              <a:rPr lang="en-US" sz="1100" dirty="0">
                <a:solidFill>
                  <a:srgbClr val="15213F"/>
                </a:solidFill>
                <a:latin typeface="Roboto" pitchFamily="34" charset="0"/>
                <a:ea typeface="Roboto" pitchFamily="34" charset="-122"/>
                <a:cs typeface="Roboto" pitchFamily="34" charset="-120"/>
              </a:rPr>
              <a:t> +20 if first team finished</a:t>
            </a:r>
            <a:endParaRPr lang="en-US" sz="1100" dirty="0"/>
          </a:p>
        </p:txBody>
      </p:sp>
      <p:sp>
        <p:nvSpPr>
          <p:cNvPr id="12" name="Text 10"/>
          <p:cNvSpPr/>
          <p:nvPr/>
        </p:nvSpPr>
        <p:spPr>
          <a:xfrm>
            <a:off x="2204799" y="5623322"/>
            <a:ext cx="10220682" cy="226219"/>
          </a:xfrm>
          <a:prstGeom prst="rect">
            <a:avLst/>
          </a:prstGeom>
          <a:noFill/>
          <a:ln/>
        </p:spPr>
        <p:txBody>
          <a:bodyPr wrap="none" lIns="0" tIns="0" rIns="0" bIns="0" rtlCol="0" anchor="t"/>
          <a:lstStyle/>
          <a:p>
            <a:pPr algn="l" indent="0" marL="0">
              <a:lnSpc>
                <a:spcPts val="1750"/>
              </a:lnSpc>
              <a:buNone/>
            </a:pPr>
            <a:r>
              <a:rPr lang="en-US" sz="1100" dirty="0">
                <a:solidFill>
                  <a:srgbClr val="15213F"/>
                </a:solidFill>
                <a:latin typeface="Roboto" pitchFamily="34" charset="0"/>
                <a:ea typeface="Roboto" pitchFamily="34" charset="-122"/>
                <a:cs typeface="Roboto" pitchFamily="34" charset="-120"/>
              </a:rPr>
              <a:t>Texts displayed one at a time</a:t>
            </a:r>
            <a:endParaRPr lang="en-US" sz="1100" dirty="0"/>
          </a:p>
        </p:txBody>
      </p:sp>
      <p:sp>
        <p:nvSpPr>
          <p:cNvPr id="13" name="Text 11"/>
          <p:cNvSpPr/>
          <p:nvPr/>
        </p:nvSpPr>
        <p:spPr>
          <a:xfrm>
            <a:off x="2204799" y="6008608"/>
            <a:ext cx="10220682" cy="226219"/>
          </a:xfrm>
          <a:prstGeom prst="rect">
            <a:avLst/>
          </a:prstGeom>
          <a:noFill/>
          <a:ln/>
        </p:spPr>
        <p:txBody>
          <a:bodyPr wrap="none" lIns="0" tIns="0" rIns="0" bIns="0" rtlCol="0" anchor="t"/>
          <a:lstStyle/>
          <a:p>
            <a:pPr algn="l" indent="0" marL="0">
              <a:lnSpc>
                <a:spcPts val="1750"/>
              </a:lnSpc>
              <a:buNone/>
            </a:pPr>
            <a:r>
              <a:rPr lang="en-US" sz="1100" dirty="0">
                <a:solidFill>
                  <a:srgbClr val="15213F"/>
                </a:solidFill>
                <a:latin typeface="Roboto" pitchFamily="34" charset="0"/>
                <a:ea typeface="Roboto" pitchFamily="34" charset="-122"/>
                <a:cs typeface="Roboto" pitchFamily="34" charset="-120"/>
              </a:rPr>
              <a:t>First team to call out gets to answer</a:t>
            </a:r>
            <a:endParaRPr lang="en-US" sz="1100" dirty="0"/>
          </a:p>
        </p:txBody>
      </p:sp>
      <p:sp>
        <p:nvSpPr>
          <p:cNvPr id="14" name="Text 12"/>
          <p:cNvSpPr/>
          <p:nvPr/>
        </p:nvSpPr>
        <p:spPr>
          <a:xfrm>
            <a:off x="2204799" y="6393894"/>
            <a:ext cx="10220682" cy="226219"/>
          </a:xfrm>
          <a:prstGeom prst="rect">
            <a:avLst/>
          </a:prstGeom>
          <a:noFill/>
          <a:ln/>
        </p:spPr>
        <p:txBody>
          <a:bodyPr wrap="none" lIns="0" tIns="0" rIns="0" bIns="0" rtlCol="0" anchor="t"/>
          <a:lstStyle/>
          <a:p>
            <a:pPr algn="l" indent="0" marL="0">
              <a:lnSpc>
                <a:spcPts val="1750"/>
              </a:lnSpc>
              <a:buNone/>
            </a:pPr>
            <a:r>
              <a:rPr lang="en-US" sz="1100" b="1" dirty="0">
                <a:solidFill>
                  <a:srgbClr val="15213F"/>
                </a:solidFill>
                <a:latin typeface="Roboto" pitchFamily="34" charset="0"/>
                <a:ea typeface="Roboto" pitchFamily="34" charset="-122"/>
                <a:cs typeface="Roboto" pitchFamily="34" charset="-120"/>
              </a:rPr>
              <a:t>FAST &amp; ACCURATE wins!</a:t>
            </a:r>
            <a:endParaRPr lang="en-US" sz="1100" dirty="0"/>
          </a:p>
        </p:txBody>
      </p:sp>
      <p:sp>
        <p:nvSpPr>
          <p:cNvPr id="15" name="Text 13"/>
          <p:cNvSpPr/>
          <p:nvPr/>
        </p:nvSpPr>
        <p:spPr>
          <a:xfrm>
            <a:off x="2204799" y="6779181"/>
            <a:ext cx="10220682" cy="226219"/>
          </a:xfrm>
          <a:prstGeom prst="rect">
            <a:avLst/>
          </a:prstGeom>
          <a:noFill/>
          <a:ln/>
        </p:spPr>
        <p:txBody>
          <a:bodyPr wrap="none" lIns="0" tIns="0" rIns="0" bIns="0" rtlCol="0" anchor="t"/>
          <a:lstStyle/>
          <a:p>
            <a:pPr algn="l" indent="0" marL="0">
              <a:lnSpc>
                <a:spcPts val="1750"/>
              </a:lnSpc>
              <a:buNone/>
            </a:pPr>
            <a:r>
              <a:rPr lang="en-US" sz="1100" b="1" dirty="0">
                <a:solidFill>
                  <a:srgbClr val="15213F"/>
                </a:solidFill>
                <a:latin typeface="Roboto" pitchFamily="34" charset="0"/>
                <a:ea typeface="Roboto" pitchFamily="34" charset="-122"/>
                <a:cs typeface="Roboto" pitchFamily="34" charset="-120"/>
              </a:rPr>
              <a:t>Ready? Round 3... START!</a:t>
            </a:r>
            <a:endParaRPr lang="en-US" sz="1100" dirty="0"/>
          </a:p>
        </p:txBody>
      </p:sp>
      <p:sp>
        <p:nvSpPr>
          <p:cNvPr id="16" name="Text 14"/>
          <p:cNvSpPr/>
          <p:nvPr/>
        </p:nvSpPr>
        <p:spPr>
          <a:xfrm>
            <a:off x="2204799" y="7164467"/>
            <a:ext cx="10220682" cy="678656"/>
          </a:xfrm>
          <a:prstGeom prst="rect">
            <a:avLst/>
          </a:prstGeom>
          <a:noFill/>
          <a:ln/>
        </p:spPr>
        <p:txBody>
          <a:bodyPr wrap="square" lIns="0" tIns="0" rIns="0" bIns="0" rtlCol="0" anchor="t"/>
          <a:lstStyle/>
          <a:p>
            <a:pPr algn="l" indent="0" marL="0">
              <a:lnSpc>
                <a:spcPts val="1750"/>
              </a:lnSpc>
              <a:buNone/>
            </a:pPr>
            <a:r>
              <a:rPr lang="en-US" sz="1100" dirty="0">
                <a:solidFill>
                  <a:srgbClr val="15213F"/>
                </a:solidFill>
                <a:latin typeface="Roboto" pitchFamily="34" charset="0"/>
                <a:ea typeface="Roboto" pitchFamily="34" charset="-122"/>
                <a:cs typeface="Roboto" pitchFamily="34" charset="-120"/>
              </a:rPr>
              <a:t>Final round: Speed! Ten short texts, one error each. I'll display them one at a time. First team to call out gets to answer. Fifteen points per correct identification. If you're first team finished, twenty-point bonus. This tests quick verification instincts. Ready? Round 3... START! [Display texts one by one, first team to call out answers, confirm correct/incorrect, keep energy high, track points]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2333030" y="490061"/>
            <a:ext cx="5064443" cy="430649"/>
          </a:xfrm>
          <a:prstGeom prst="rect">
            <a:avLst/>
          </a:prstGeom>
          <a:noFill/>
          <a:ln/>
        </p:spPr>
        <p:txBody>
          <a:bodyPr wrap="none" lIns="0" tIns="0" rIns="0" bIns="0" rtlCol="0" anchor="t"/>
          <a:lstStyle/>
          <a:p>
            <a:pPr algn="l" indent="0" marL="0">
              <a:lnSpc>
                <a:spcPts val="3350"/>
              </a:lnSpc>
              <a:buNone/>
            </a:pPr>
            <a:r>
              <a:rPr lang="en-US" sz="2700" dirty="0">
                <a:solidFill>
                  <a:srgbClr val="3257B8"/>
                </a:solidFill>
                <a:latin typeface="Roboto Slab" pitchFamily="34" charset="0"/>
                <a:ea typeface="Roboto Slab" pitchFamily="34" charset="-122"/>
                <a:cs typeface="Roboto Slab" pitchFamily="34" charset="-120"/>
              </a:rPr>
              <a:t>Tournament Winners &amp; Debrief</a:t>
            </a:r>
            <a:endParaRPr lang="en-US" sz="2700" dirty="0"/>
          </a:p>
        </p:txBody>
      </p:sp>
      <p:sp>
        <p:nvSpPr>
          <p:cNvPr id="3" name="Text 1"/>
          <p:cNvSpPr/>
          <p:nvPr/>
        </p:nvSpPr>
        <p:spPr>
          <a:xfrm>
            <a:off x="2333030" y="1127403"/>
            <a:ext cx="9964341" cy="1723073"/>
          </a:xfrm>
          <a:prstGeom prst="rect">
            <a:avLst/>
          </a:prstGeom>
          <a:noFill/>
          <a:ln/>
        </p:spPr>
        <p:txBody>
          <a:bodyPr wrap="square" lIns="0" tIns="0" rIns="0" bIns="0" rtlCol="0" anchor="t"/>
          <a:lstStyle/>
          <a:p>
            <a:pPr algn="l" indent="0" marL="0">
              <a:lnSpc>
                <a:spcPts val="6750"/>
              </a:lnSpc>
              <a:buNone/>
            </a:pPr>
            <a:r>
              <a:rPr lang="en-US" sz="5400" dirty="0">
                <a:solidFill>
                  <a:srgbClr val="3257B8"/>
                </a:solidFill>
                <a:latin typeface="Roboto Slab" pitchFamily="34" charset="0"/>
                <a:ea typeface="Roboto Slab" pitchFamily="34" charset="-122"/>
                <a:cs typeface="Roboto Slab" pitchFamily="34" charset="-120"/>
              </a:rPr>
              <a:t>HALLUCINATION HUNT CHAMPIONS!</a:t>
            </a:r>
            <a:endParaRPr lang="en-US" sz="5400" dirty="0"/>
          </a:p>
        </p:txBody>
      </p:sp>
      <p:sp>
        <p:nvSpPr>
          <p:cNvPr id="4" name="Text 2"/>
          <p:cNvSpPr/>
          <p:nvPr/>
        </p:nvSpPr>
        <p:spPr>
          <a:xfrm>
            <a:off x="2333030" y="3057168"/>
            <a:ext cx="2756892" cy="344686"/>
          </a:xfrm>
          <a:prstGeom prst="rect">
            <a:avLst/>
          </a:prstGeom>
          <a:noFill/>
          <a:ln/>
        </p:spPr>
        <p:txBody>
          <a:bodyPr wrap="none" lIns="0" tIns="0" rIns="0" bIns="0" rtlCol="0" anchor="t"/>
          <a:lstStyle/>
          <a:p>
            <a:pPr algn="l" indent="0" marL="0">
              <a:lnSpc>
                <a:spcPts val="2700"/>
              </a:lnSpc>
              <a:buNone/>
            </a:pPr>
            <a:r>
              <a:rPr lang="en-US" sz="2150" dirty="0">
                <a:solidFill>
                  <a:srgbClr val="3257B8"/>
                </a:solidFill>
                <a:latin typeface="Roboto Slab" pitchFamily="34" charset="0"/>
                <a:ea typeface="Roboto Slab" pitchFamily="34" charset="-122"/>
                <a:cs typeface="Roboto Slab" pitchFamily="34" charset="-120"/>
              </a:rPr>
              <a:t>Final Scores:</a:t>
            </a:r>
            <a:endParaRPr lang="en-US" sz="2150" dirty="0"/>
          </a:p>
        </p:txBody>
      </p:sp>
      <p:sp>
        <p:nvSpPr>
          <p:cNvPr id="5" name="Text 3"/>
          <p:cNvSpPr/>
          <p:nvPr/>
        </p:nvSpPr>
        <p:spPr>
          <a:xfrm>
            <a:off x="2333030" y="3608546"/>
            <a:ext cx="9964341" cy="220504"/>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[Team scores displayed]</a:t>
            </a:r>
            <a:endParaRPr lang="en-US" sz="1050" dirty="0"/>
          </a:p>
        </p:txBody>
      </p:sp>
      <p:sp>
        <p:nvSpPr>
          <p:cNvPr id="6" name="Text 4"/>
          <p:cNvSpPr/>
          <p:nvPr/>
        </p:nvSpPr>
        <p:spPr>
          <a:xfrm>
            <a:off x="2333030" y="3984069"/>
            <a:ext cx="9964341" cy="220504"/>
          </a:xfrm>
          <a:prstGeom prst="rect">
            <a:avLst/>
          </a:prstGeom>
          <a:noFill/>
          <a:ln/>
        </p:spPr>
        <p:txBody>
          <a:bodyPr wrap="none" lIns="0" tIns="0" rIns="0" bIns="0" rtlCol="0" anchor="t"/>
          <a:lstStyle/>
          <a:p>
            <a:pPr algn="l" indent="0" marL="0">
              <a:lnSpc>
                <a:spcPts val="1700"/>
              </a:lnSpc>
              <a:buNone/>
            </a:pPr>
            <a:r>
              <a:rPr lang="en-US" sz="1050" dirty="0">
                <a:solidFill>
                  <a:srgbClr val="000000"/>
                </a:solidFill>
                <a:latin typeface="Roboto" pitchFamily="34" charset="0"/>
                <a:ea typeface="Roboto" pitchFamily="34" charset="-122"/>
                <a:cs typeface="Roboto" pitchFamily="34" charset="-120"/>
              </a:rPr>
              <a:t>🏆</a:t>
            </a:r>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 </a:t>
            </a:r>
            <a:pPr algn="l" indent="0" marL="0">
              <a:lnSpc>
                <a:spcPts val="1700"/>
              </a:lnSpc>
              <a:buNone/>
            </a:pPr>
            <a:r>
              <a:rPr lang="en-US" sz="1050" b="1" dirty="0">
                <a:solidFill>
                  <a:srgbClr val="15213F"/>
                </a:solidFill>
                <a:latin typeface="Roboto" pitchFamily="34" charset="0"/>
                <a:ea typeface="Roboto" pitchFamily="34" charset="-122"/>
                <a:cs typeface="Roboto" pitchFamily="34" charset="-120"/>
              </a:rPr>
              <a:t>Champion: [Winning Team]</a:t>
            </a:r>
            <a:endParaRPr lang="en-US" sz="1050" dirty="0"/>
          </a:p>
        </p:txBody>
      </p:sp>
      <p:sp>
        <p:nvSpPr>
          <p:cNvPr id="7" name="Text 5"/>
          <p:cNvSpPr/>
          <p:nvPr/>
        </p:nvSpPr>
        <p:spPr>
          <a:xfrm>
            <a:off x="2333030" y="4359593"/>
            <a:ext cx="9964341" cy="220504"/>
          </a:xfrm>
          <a:prstGeom prst="rect">
            <a:avLst/>
          </a:prstGeom>
          <a:noFill/>
          <a:ln/>
        </p:spPr>
        <p:txBody>
          <a:bodyPr wrap="non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"Eagle Eye" Badge awarded!</a:t>
            </a:r>
            <a:endParaRPr lang="en-US" sz="1050" dirty="0"/>
          </a:p>
        </p:txBody>
      </p:sp>
      <p:sp>
        <p:nvSpPr>
          <p:cNvPr id="8" name="Text 6"/>
          <p:cNvSpPr/>
          <p:nvPr/>
        </p:nvSpPr>
        <p:spPr>
          <a:xfrm>
            <a:off x="2333030" y="4786789"/>
            <a:ext cx="2067639" cy="258485"/>
          </a:xfrm>
          <a:prstGeom prst="rect">
            <a:avLst/>
          </a:prstGeom>
          <a:noFill/>
          <a:ln/>
        </p:spPr>
        <p:txBody>
          <a:bodyPr wrap="none" lIns="0" tIns="0" rIns="0" bIns="0" rtlCol="0" anchor="t"/>
          <a:lstStyle/>
          <a:p>
            <a:pPr algn="l" indent="0" marL="0">
              <a:lnSpc>
                <a:spcPts val="2000"/>
              </a:lnSpc>
              <a:buNone/>
            </a:pPr>
            <a:r>
              <a:rPr lang="en-US" sz="1600" dirty="0">
                <a:solidFill>
                  <a:srgbClr val="3257B8"/>
                </a:solidFill>
                <a:latin typeface="Roboto Slab" pitchFamily="34" charset="0"/>
                <a:ea typeface="Roboto Slab" pitchFamily="34" charset="-122"/>
                <a:cs typeface="Roboto Slab" pitchFamily="34" charset="-120"/>
              </a:rPr>
              <a:t>Key Lessons:</a:t>
            </a:r>
            <a:endParaRPr lang="en-US" sz="1600" dirty="0"/>
          </a:p>
        </p:txBody>
      </p:sp>
      <p:sp>
        <p:nvSpPr>
          <p:cNvPr id="9" name="Text 7"/>
          <p:cNvSpPr/>
          <p:nvPr/>
        </p:nvSpPr>
        <p:spPr>
          <a:xfrm>
            <a:off x="2333030" y="5251966"/>
            <a:ext cx="9964341" cy="220504"/>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Citation verification is non-negotiable</a:t>
            </a:r>
            <a:endParaRPr lang="en-US" sz="1050" dirty="0"/>
          </a:p>
        </p:txBody>
      </p:sp>
      <p:sp>
        <p:nvSpPr>
          <p:cNvPr id="10" name="Text 8"/>
          <p:cNvSpPr/>
          <p:nvPr/>
        </p:nvSpPr>
        <p:spPr>
          <a:xfrm>
            <a:off x="2333030" y="5520690"/>
            <a:ext cx="9964341" cy="220504"/>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Domain knowledge catches plausible errors</a:t>
            </a:r>
            <a:endParaRPr lang="en-US" sz="1050" dirty="0"/>
          </a:p>
        </p:txBody>
      </p:sp>
      <p:sp>
        <p:nvSpPr>
          <p:cNvPr id="11" name="Text 9"/>
          <p:cNvSpPr/>
          <p:nvPr/>
        </p:nvSpPr>
        <p:spPr>
          <a:xfrm>
            <a:off x="2333030" y="5789414"/>
            <a:ext cx="9964341" cy="220504"/>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Statistical/mathematical claims need checking</a:t>
            </a:r>
            <a:endParaRPr lang="en-US" sz="1050" dirty="0"/>
          </a:p>
        </p:txBody>
      </p:sp>
      <p:sp>
        <p:nvSpPr>
          <p:cNvPr id="12" name="Text 10"/>
          <p:cNvSpPr/>
          <p:nvPr/>
        </p:nvSpPr>
        <p:spPr>
          <a:xfrm>
            <a:off x="2333030" y="6058138"/>
            <a:ext cx="9964341" cy="220504"/>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Techniques can sound real but be invented</a:t>
            </a:r>
            <a:endParaRPr lang="en-US" sz="1050" dirty="0"/>
          </a:p>
        </p:txBody>
      </p:sp>
      <p:sp>
        <p:nvSpPr>
          <p:cNvPr id="13" name="Text 11"/>
          <p:cNvSpPr/>
          <p:nvPr/>
        </p:nvSpPr>
        <p:spPr>
          <a:xfrm>
            <a:off x="2333030" y="6326862"/>
            <a:ext cx="9964341" cy="220504"/>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Historical attributions often misplaced</a:t>
            </a:r>
            <a:endParaRPr lang="en-US" sz="1050" dirty="0"/>
          </a:p>
        </p:txBody>
      </p:sp>
      <p:sp>
        <p:nvSpPr>
          <p:cNvPr id="14" name="Text 12"/>
          <p:cNvSpPr/>
          <p:nvPr/>
        </p:nvSpPr>
        <p:spPr>
          <a:xfrm>
            <a:off x="2333030" y="6702385"/>
            <a:ext cx="9964341" cy="220504"/>
          </a:xfrm>
          <a:prstGeom prst="rect">
            <a:avLst/>
          </a:prstGeom>
          <a:noFill/>
          <a:ln/>
        </p:spPr>
        <p:txBody>
          <a:bodyPr wrap="none" lIns="0" tIns="0" rIns="0" bIns="0" rtlCol="0" anchor="t"/>
          <a:lstStyle/>
          <a:p>
            <a:pPr algn="l" indent="0" marL="0">
              <a:lnSpc>
                <a:spcPts val="1700"/>
              </a:lnSpc>
              <a:buNone/>
            </a:pPr>
            <a:r>
              <a:rPr lang="en-US" sz="1050" b="1" dirty="0">
                <a:solidFill>
                  <a:srgbClr val="15213F"/>
                </a:solidFill>
                <a:latin typeface="Roboto" pitchFamily="34" charset="0"/>
                <a:ea typeface="Roboto" pitchFamily="34" charset="-122"/>
                <a:cs typeface="Roboto" pitchFamily="34" charset="-120"/>
              </a:rPr>
              <a:t>What was your best catch? What verification strategy worked best?</a:t>
            </a:r>
            <a:endParaRPr lang="en-US" sz="1050" dirty="0"/>
          </a:p>
        </p:txBody>
      </p:sp>
      <p:sp>
        <p:nvSpPr>
          <p:cNvPr id="15" name="Text 13"/>
          <p:cNvSpPr/>
          <p:nvPr/>
        </p:nvSpPr>
        <p:spPr>
          <a:xfrm>
            <a:off x="2333030" y="7077908"/>
            <a:ext cx="9964341" cy="661511"/>
          </a:xfrm>
          <a:prstGeom prst="rect">
            <a:avLst/>
          </a:prstGeom>
          <a:noFill/>
          <a:ln/>
        </p:spPr>
        <p:txBody>
          <a:bodyPr wrap="square" lIns="0" tIns="0" rIns="0" bIns="0" rtlCol="0" anchor="t"/>
          <a:lstStyle/>
          <a:p>
            <a:pPr algn="l" indent="0" marL="0">
              <a:lnSpc>
                <a:spcPts val="1700"/>
              </a:lnSpc>
              <a:buNone/>
            </a:pPr>
            <a:r>
              <a:rPr lang="en-US" sz="1050" dirty="0">
                <a:solidFill>
                  <a:srgbClr val="15213F"/>
                </a:solidFill>
                <a:latin typeface="Roboto" pitchFamily="34" charset="0"/>
                <a:ea typeface="Roboto" pitchFamily="34" charset="-122"/>
                <a:cs typeface="Roboto" pitchFamily="34" charset="-120"/>
              </a:rPr>
              <a:t>Champions: [Winning team name]! Congratulations, you earned Eagle Eye badge! Excellent work everyone. What did we learn? Citation verification is critical - DOIs can be wrong. Your domain knowledge is powerful - it catches plausible-sounding nonsense. Maths and stats need checking - AI gets calculations wrong. What was your team's best catch? What verification strategy worked best? [Facilitate brief discussion, celebrate all teams' efforts]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189077"/>
            <a:ext cx="7785616"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Systematic Verification Protocols</a:t>
            </a:r>
            <a:endParaRPr lang="en-US" sz="3900" dirty="0"/>
          </a:p>
        </p:txBody>
      </p:sp>
      <p:sp>
        <p:nvSpPr>
          <p:cNvPr id="3" name="Text 1"/>
          <p:cNvSpPr/>
          <p:nvPr/>
        </p:nvSpPr>
        <p:spPr>
          <a:xfrm>
            <a:off x="793790" y="1888450"/>
            <a:ext cx="5753933"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Build Your Verification System</a:t>
            </a:r>
            <a:endParaRPr lang="en-US" sz="3100" dirty="0"/>
          </a:p>
        </p:txBody>
      </p:sp>
      <p:sp>
        <p:nvSpPr>
          <p:cNvPr id="4" name="Text 2"/>
          <p:cNvSpPr/>
          <p:nvPr/>
        </p:nvSpPr>
        <p:spPr>
          <a:xfrm>
            <a:off x="793790" y="288059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3257B8"/>
                </a:solidFill>
                <a:latin typeface="Roboto Slab" pitchFamily="34" charset="0"/>
                <a:ea typeface="Roboto Slab" pitchFamily="34" charset="-122"/>
                <a:cs typeface="Roboto Slab" pitchFamily="34" charset="-120"/>
              </a:rPr>
              <a:t>For Citations:</a:t>
            </a:r>
            <a:endParaRPr lang="en-US" sz="1950" dirty="0"/>
          </a:p>
        </p:txBody>
      </p:sp>
      <p:sp>
        <p:nvSpPr>
          <p:cNvPr id="5" name="Text 3"/>
          <p:cNvSpPr/>
          <p:nvPr/>
        </p:nvSpPr>
        <p:spPr>
          <a:xfrm>
            <a:off x="793790" y="3389114"/>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DOI resolves?</a:t>
            </a:r>
            <a:endParaRPr lang="en-US" sz="1550" dirty="0"/>
          </a:p>
        </p:txBody>
      </p:sp>
      <p:sp>
        <p:nvSpPr>
          <p:cNvPr id="6" name="Text 4"/>
          <p:cNvSpPr/>
          <p:nvPr/>
        </p:nvSpPr>
        <p:spPr>
          <a:xfrm>
            <a:off x="793790" y="3776067"/>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Authors match?</a:t>
            </a:r>
            <a:endParaRPr lang="en-US" sz="1550" dirty="0"/>
          </a:p>
        </p:txBody>
      </p:sp>
      <p:sp>
        <p:nvSpPr>
          <p:cNvPr id="7" name="Text 5"/>
          <p:cNvSpPr/>
          <p:nvPr/>
        </p:nvSpPr>
        <p:spPr>
          <a:xfrm>
            <a:off x="793790" y="4163020"/>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Journal/year correct?</a:t>
            </a:r>
            <a:endParaRPr lang="en-US" sz="1550" dirty="0"/>
          </a:p>
        </p:txBody>
      </p:sp>
      <p:sp>
        <p:nvSpPr>
          <p:cNvPr id="8" name="Text 6"/>
          <p:cNvSpPr/>
          <p:nvPr/>
        </p:nvSpPr>
        <p:spPr>
          <a:xfrm>
            <a:off x="793790" y="4549973"/>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Abstract aligns with claim?</a:t>
            </a:r>
            <a:endParaRPr lang="en-US" sz="1550" dirty="0"/>
          </a:p>
        </p:txBody>
      </p:sp>
      <p:sp>
        <p:nvSpPr>
          <p:cNvPr id="9" name="Text 7"/>
          <p:cNvSpPr/>
          <p:nvPr/>
        </p:nvSpPr>
        <p:spPr>
          <a:xfrm>
            <a:off x="793790" y="4936927"/>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Check actual data in paper</a:t>
            </a:r>
            <a:endParaRPr lang="en-US" sz="1550" dirty="0"/>
          </a:p>
        </p:txBody>
      </p:sp>
      <p:sp>
        <p:nvSpPr>
          <p:cNvPr id="10" name="Text 8"/>
          <p:cNvSpPr/>
          <p:nvPr/>
        </p:nvSpPr>
        <p:spPr>
          <a:xfrm>
            <a:off x="5265182" y="2880598"/>
            <a:ext cx="2525316" cy="310158"/>
          </a:xfrm>
          <a:prstGeom prst="rect">
            <a:avLst/>
          </a:prstGeom>
          <a:noFill/>
          <a:ln/>
        </p:spPr>
        <p:txBody>
          <a:bodyPr wrap="none" lIns="0" tIns="0" rIns="0" bIns="0" rtlCol="0" anchor="t"/>
          <a:lstStyle/>
          <a:p>
            <a:pPr algn="l" indent="0" marL="0">
              <a:lnSpc>
                <a:spcPts val="2400"/>
              </a:lnSpc>
              <a:buNone/>
            </a:pPr>
            <a:r>
              <a:rPr lang="en-US" sz="1950" dirty="0">
                <a:solidFill>
                  <a:srgbClr val="3257B8"/>
                </a:solidFill>
                <a:latin typeface="Roboto Slab" pitchFamily="34" charset="0"/>
                <a:ea typeface="Roboto Slab" pitchFamily="34" charset="-122"/>
                <a:cs typeface="Roboto Slab" pitchFamily="34" charset="-120"/>
              </a:rPr>
              <a:t>For Quantitative Data:</a:t>
            </a:r>
            <a:endParaRPr lang="en-US" sz="1950" dirty="0"/>
          </a:p>
        </p:txBody>
      </p:sp>
      <p:sp>
        <p:nvSpPr>
          <p:cNvPr id="11" name="Text 9"/>
          <p:cNvSpPr/>
          <p:nvPr/>
        </p:nvSpPr>
        <p:spPr>
          <a:xfrm>
            <a:off x="5265182" y="3389114"/>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Physically reasonable range?</a:t>
            </a:r>
            <a:endParaRPr lang="en-US" sz="1550" dirty="0"/>
          </a:p>
        </p:txBody>
      </p:sp>
      <p:sp>
        <p:nvSpPr>
          <p:cNvPr id="12" name="Text 10"/>
          <p:cNvSpPr/>
          <p:nvPr/>
        </p:nvSpPr>
        <p:spPr>
          <a:xfrm>
            <a:off x="5265182" y="3776067"/>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Units consistent?</a:t>
            </a:r>
            <a:endParaRPr lang="en-US" sz="1550" dirty="0"/>
          </a:p>
        </p:txBody>
      </p:sp>
      <p:sp>
        <p:nvSpPr>
          <p:cNvPr id="13" name="Text 11"/>
          <p:cNvSpPr/>
          <p:nvPr/>
        </p:nvSpPr>
        <p:spPr>
          <a:xfrm>
            <a:off x="5265182" y="4163020"/>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Compare to benchmarks?</a:t>
            </a:r>
            <a:endParaRPr lang="en-US" sz="1550" dirty="0"/>
          </a:p>
        </p:txBody>
      </p:sp>
      <p:sp>
        <p:nvSpPr>
          <p:cNvPr id="14" name="Text 12"/>
          <p:cNvSpPr/>
          <p:nvPr/>
        </p:nvSpPr>
        <p:spPr>
          <a:xfrm>
            <a:off x="5265182" y="4549973"/>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Do the maths yourself?</a:t>
            </a:r>
            <a:endParaRPr lang="en-US" sz="1550" dirty="0"/>
          </a:p>
        </p:txBody>
      </p:sp>
      <p:sp>
        <p:nvSpPr>
          <p:cNvPr id="15" name="Text 13"/>
          <p:cNvSpPr/>
          <p:nvPr/>
        </p:nvSpPr>
        <p:spPr>
          <a:xfrm>
            <a:off x="5265182" y="4936927"/>
            <a:ext cx="397966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Check authoritative sources</a:t>
            </a:r>
            <a:endParaRPr lang="en-US" sz="1550" dirty="0"/>
          </a:p>
        </p:txBody>
      </p:sp>
      <p:sp>
        <p:nvSpPr>
          <p:cNvPr id="16" name="Text 14"/>
          <p:cNvSpPr/>
          <p:nvPr/>
        </p:nvSpPr>
        <p:spPr>
          <a:xfrm>
            <a:off x="9736574" y="2880598"/>
            <a:ext cx="2980015" cy="310158"/>
          </a:xfrm>
          <a:prstGeom prst="rect">
            <a:avLst/>
          </a:prstGeom>
          <a:noFill/>
          <a:ln/>
        </p:spPr>
        <p:txBody>
          <a:bodyPr wrap="none" lIns="0" tIns="0" rIns="0" bIns="0" rtlCol="0" anchor="t"/>
          <a:lstStyle/>
          <a:p>
            <a:pPr algn="l" indent="0" marL="0">
              <a:lnSpc>
                <a:spcPts val="2400"/>
              </a:lnSpc>
              <a:buNone/>
            </a:pPr>
            <a:r>
              <a:rPr lang="en-US" sz="1950" dirty="0">
                <a:solidFill>
                  <a:srgbClr val="3257B8"/>
                </a:solidFill>
                <a:latin typeface="Roboto Slab" pitchFamily="34" charset="0"/>
                <a:ea typeface="Roboto Slab" pitchFamily="34" charset="-122"/>
                <a:cs typeface="Roboto Slab" pitchFamily="34" charset="-120"/>
              </a:rPr>
              <a:t>For Techniques/Methods:</a:t>
            </a:r>
            <a:endParaRPr lang="en-US" sz="1950" dirty="0"/>
          </a:p>
        </p:txBody>
      </p:sp>
      <p:sp>
        <p:nvSpPr>
          <p:cNvPr id="17" name="Text 15"/>
          <p:cNvSpPr/>
          <p:nvPr/>
        </p:nvSpPr>
        <p:spPr>
          <a:xfrm>
            <a:off x="9736574" y="3389114"/>
            <a:ext cx="4115038"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Does technique exist?</a:t>
            </a:r>
            <a:endParaRPr lang="en-US" sz="1550" dirty="0"/>
          </a:p>
        </p:txBody>
      </p:sp>
      <p:sp>
        <p:nvSpPr>
          <p:cNvPr id="18" name="Text 16"/>
          <p:cNvSpPr/>
          <p:nvPr/>
        </p:nvSpPr>
        <p:spPr>
          <a:xfrm>
            <a:off x="9736574" y="3776067"/>
            <a:ext cx="4115038"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Literature search confirms?</a:t>
            </a:r>
            <a:endParaRPr lang="en-US" sz="1550" dirty="0"/>
          </a:p>
        </p:txBody>
      </p:sp>
      <p:sp>
        <p:nvSpPr>
          <p:cNvPr id="19" name="Text 17"/>
          <p:cNvSpPr/>
          <p:nvPr/>
        </p:nvSpPr>
        <p:spPr>
          <a:xfrm>
            <a:off x="9736574" y="4163020"/>
            <a:ext cx="4115038"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Appropriate for material?</a:t>
            </a:r>
            <a:endParaRPr lang="en-US" sz="1550" dirty="0"/>
          </a:p>
        </p:txBody>
      </p:sp>
      <p:sp>
        <p:nvSpPr>
          <p:cNvPr id="20" name="Text 18"/>
          <p:cNvSpPr/>
          <p:nvPr/>
        </p:nvSpPr>
        <p:spPr>
          <a:xfrm>
            <a:off x="793790" y="5547122"/>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Make this automatic!</a:t>
            </a:r>
            <a:endParaRPr lang="en-US" sz="1550" dirty="0"/>
          </a:p>
        </p:txBody>
      </p:sp>
      <p:sp>
        <p:nvSpPr>
          <p:cNvPr id="21" name="Text 19"/>
          <p:cNvSpPr/>
          <p:nvPr/>
        </p:nvSpPr>
        <p:spPr>
          <a:xfrm>
            <a:off x="793790" y="6087904"/>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Build systematic verification protocols. Three categories: citations, quantitative data, techniques. For each, specific checks. Make these automatic - every AI output goes through these filters. It becomes second nature after a few weeks. Save time by focusing verification on high-stakes claims - not everything needs equal scrutiny. Use judgement about what matters most.</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628412"/>
            <a:ext cx="5395079"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Key Takeaways - Day 2</a:t>
            </a:r>
            <a:endParaRPr lang="en-US" sz="3900" dirty="0"/>
          </a:p>
        </p:txBody>
      </p:sp>
      <p:sp>
        <p:nvSpPr>
          <p:cNvPr id="3" name="Text 1"/>
          <p:cNvSpPr/>
          <p:nvPr/>
        </p:nvSpPr>
        <p:spPr>
          <a:xfrm>
            <a:off x="793790" y="1327785"/>
            <a:ext cx="5476161"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What You've Mastered Today</a:t>
            </a:r>
            <a:endParaRPr lang="en-US" sz="3100" dirty="0"/>
          </a:p>
        </p:txBody>
      </p:sp>
      <p:sp>
        <p:nvSpPr>
          <p:cNvPr id="4" name="Shape 2"/>
          <p:cNvSpPr/>
          <p:nvPr/>
        </p:nvSpPr>
        <p:spPr>
          <a:xfrm>
            <a:off x="793790" y="2121575"/>
            <a:ext cx="4215289" cy="3445431"/>
          </a:xfrm>
          <a:prstGeom prst="roundRect">
            <a:avLst>
              <a:gd name="adj" fmla="val 864"/>
            </a:avLst>
          </a:prstGeom>
          <a:solidFill>
            <a:srgbClr val="E9ECF2"/>
          </a:solidFill>
          <a:ln/>
        </p:spPr>
      </p:sp>
      <p:pic>
        <p:nvPicPr>
          <p:cNvPr id="5" name="Image 0" descr="preencoded.png">    </p:cNvPr>
          <p:cNvPicPr>
            <a:picLocks noChangeAspect="1"/>
          </p:cNvPicPr>
          <p:nvPr/>
        </p:nvPicPr>
        <p:blipFill>
          <a:blip r:embed="rId1"/>
          <a:stretch>
            <a:fillRect/>
          </a:stretch>
        </p:blipFill>
        <p:spPr>
          <a:xfrm>
            <a:off x="992148" y="2319933"/>
            <a:ext cx="595313" cy="595313"/>
          </a:xfrm>
          <a:prstGeom prst="rect">
            <a:avLst/>
          </a:prstGeom>
        </p:spPr>
      </p:pic>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55859" y="2483525"/>
            <a:ext cx="267891" cy="267891"/>
          </a:xfrm>
          <a:prstGeom prst="rect">
            <a:avLst/>
          </a:prstGeom>
        </p:spPr>
      </p:pic>
      <p:sp>
        <p:nvSpPr>
          <p:cNvPr id="7" name="Text 3"/>
          <p:cNvSpPr/>
          <p:nvPr/>
        </p:nvSpPr>
        <p:spPr>
          <a:xfrm>
            <a:off x="992148" y="3113603"/>
            <a:ext cx="2803327" cy="310158"/>
          </a:xfrm>
          <a:prstGeom prst="rect">
            <a:avLst/>
          </a:prstGeom>
          <a:noFill/>
          <a:ln/>
        </p:spPr>
        <p:txBody>
          <a:bodyPr wrap="non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CONTEXT is everything</a:t>
            </a:r>
            <a:endParaRPr lang="en-US" sz="1950" dirty="0"/>
          </a:p>
        </p:txBody>
      </p:sp>
      <p:sp>
        <p:nvSpPr>
          <p:cNvPr id="8" name="Text 4"/>
          <p:cNvSpPr/>
          <p:nvPr/>
        </p:nvSpPr>
        <p:spPr>
          <a:xfrm>
            <a:off x="992148" y="3542824"/>
            <a:ext cx="3818573"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Vague context = poor outputs</a:t>
            </a:r>
            <a:endParaRPr lang="en-US" sz="1550" dirty="0"/>
          </a:p>
        </p:txBody>
      </p:sp>
      <p:sp>
        <p:nvSpPr>
          <p:cNvPr id="9" name="Text 5"/>
          <p:cNvSpPr/>
          <p:nvPr/>
        </p:nvSpPr>
        <p:spPr>
          <a:xfrm>
            <a:off x="992148" y="3979426"/>
            <a:ext cx="3818573"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Precise context = first-shot success</a:t>
            </a:r>
            <a:endParaRPr lang="en-US" sz="1550" dirty="0"/>
          </a:p>
        </p:txBody>
      </p:sp>
      <p:sp>
        <p:nvSpPr>
          <p:cNvPr id="10" name="Text 6"/>
          <p:cNvSpPr/>
          <p:nvPr/>
        </p:nvSpPr>
        <p:spPr>
          <a:xfrm>
            <a:off x="992148" y="4416028"/>
            <a:ext cx="3818573"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Five W's + H for building context</a:t>
            </a:r>
            <a:endParaRPr lang="en-US" sz="1550" dirty="0"/>
          </a:p>
        </p:txBody>
      </p:sp>
      <p:sp>
        <p:nvSpPr>
          <p:cNvPr id="11" name="Shape 7"/>
          <p:cNvSpPr/>
          <p:nvPr/>
        </p:nvSpPr>
        <p:spPr>
          <a:xfrm>
            <a:off x="5207437" y="2121575"/>
            <a:ext cx="4215408" cy="3445431"/>
          </a:xfrm>
          <a:prstGeom prst="roundRect">
            <a:avLst>
              <a:gd name="adj" fmla="val 864"/>
            </a:avLst>
          </a:prstGeom>
          <a:solidFill>
            <a:srgbClr val="E9ECF2"/>
          </a:solidFill>
          <a:ln/>
        </p:spPr>
      </p:sp>
      <p:pic>
        <p:nvPicPr>
          <p:cNvPr id="12" name="Image 2" descr="preencoded.png">    </p:cNvPr>
          <p:cNvPicPr>
            <a:picLocks noChangeAspect="1"/>
          </p:cNvPicPr>
          <p:nvPr/>
        </p:nvPicPr>
        <p:blipFill>
          <a:blip r:embed="rId4"/>
          <a:stretch>
            <a:fillRect/>
          </a:stretch>
        </p:blipFill>
        <p:spPr>
          <a:xfrm>
            <a:off x="5405795" y="2319933"/>
            <a:ext cx="595313" cy="595313"/>
          </a:xfrm>
          <a:prstGeom prst="rect">
            <a:avLst/>
          </a:prstGeom>
        </p:spPr>
      </p:pic>
      <p:pic>
        <p:nvPicPr>
          <p:cNvPr id="13"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69506" y="2483525"/>
            <a:ext cx="267891" cy="267891"/>
          </a:xfrm>
          <a:prstGeom prst="rect">
            <a:avLst/>
          </a:prstGeom>
        </p:spPr>
      </p:pic>
      <p:sp>
        <p:nvSpPr>
          <p:cNvPr id="14" name="Text 8"/>
          <p:cNvSpPr/>
          <p:nvPr/>
        </p:nvSpPr>
        <p:spPr>
          <a:xfrm>
            <a:off x="5405795" y="3113603"/>
            <a:ext cx="2485192" cy="310158"/>
          </a:xfrm>
          <a:prstGeom prst="rect">
            <a:avLst/>
          </a:prstGeom>
          <a:noFill/>
          <a:ln/>
        </p:spPr>
        <p:txBody>
          <a:bodyPr wrap="non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CO-STAR Framework</a:t>
            </a:r>
            <a:endParaRPr lang="en-US" sz="1950" dirty="0"/>
          </a:p>
        </p:txBody>
      </p:sp>
      <p:sp>
        <p:nvSpPr>
          <p:cNvPr id="15" name="Text 9"/>
          <p:cNvSpPr/>
          <p:nvPr/>
        </p:nvSpPr>
        <p:spPr>
          <a:xfrm>
            <a:off x="5405795" y="3542824"/>
            <a:ext cx="3818692"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Six components for strategic communication</a:t>
            </a:r>
            <a:endParaRPr lang="en-US" sz="1550" dirty="0"/>
          </a:p>
        </p:txBody>
      </p:sp>
      <p:sp>
        <p:nvSpPr>
          <p:cNvPr id="16" name="Text 10"/>
          <p:cNvSpPr/>
          <p:nvPr/>
        </p:nvSpPr>
        <p:spPr>
          <a:xfrm>
            <a:off x="5405795" y="4296966"/>
            <a:ext cx="3818692"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Choose CO-STAR vs AUTOMAT appropriately</a:t>
            </a:r>
            <a:endParaRPr lang="en-US" sz="1550" dirty="0"/>
          </a:p>
        </p:txBody>
      </p:sp>
      <p:sp>
        <p:nvSpPr>
          <p:cNvPr id="17" name="Text 11"/>
          <p:cNvSpPr/>
          <p:nvPr/>
        </p:nvSpPr>
        <p:spPr>
          <a:xfrm>
            <a:off x="5405795" y="5051108"/>
            <a:ext cx="3818692"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Tested with real prompts</a:t>
            </a:r>
            <a:endParaRPr lang="en-US" sz="1550" dirty="0"/>
          </a:p>
        </p:txBody>
      </p:sp>
      <p:sp>
        <p:nvSpPr>
          <p:cNvPr id="18" name="Shape 12"/>
          <p:cNvSpPr/>
          <p:nvPr/>
        </p:nvSpPr>
        <p:spPr>
          <a:xfrm>
            <a:off x="9621203" y="2121575"/>
            <a:ext cx="4215289" cy="3445431"/>
          </a:xfrm>
          <a:prstGeom prst="roundRect">
            <a:avLst>
              <a:gd name="adj" fmla="val 864"/>
            </a:avLst>
          </a:prstGeom>
          <a:solidFill>
            <a:srgbClr val="E9ECF2"/>
          </a:solidFill>
          <a:ln/>
        </p:spPr>
      </p:sp>
      <p:pic>
        <p:nvPicPr>
          <p:cNvPr id="19" name="Image 4" descr="preencoded.png">    </p:cNvPr>
          <p:cNvPicPr>
            <a:picLocks noChangeAspect="1"/>
          </p:cNvPicPr>
          <p:nvPr/>
        </p:nvPicPr>
        <p:blipFill>
          <a:blip r:embed="rId7"/>
          <a:stretch>
            <a:fillRect/>
          </a:stretch>
        </p:blipFill>
        <p:spPr>
          <a:xfrm>
            <a:off x="9819561" y="2319933"/>
            <a:ext cx="595313" cy="595313"/>
          </a:xfrm>
          <a:prstGeom prst="rect">
            <a:avLst/>
          </a:prstGeom>
        </p:spPr>
      </p:pic>
      <p:pic>
        <p:nvPicPr>
          <p:cNvPr id="20"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83272" y="2483525"/>
            <a:ext cx="267891" cy="267891"/>
          </a:xfrm>
          <a:prstGeom prst="rect">
            <a:avLst/>
          </a:prstGeom>
        </p:spPr>
      </p:pic>
      <p:sp>
        <p:nvSpPr>
          <p:cNvPr id="21" name="Text 13"/>
          <p:cNvSpPr/>
          <p:nvPr/>
        </p:nvSpPr>
        <p:spPr>
          <a:xfrm>
            <a:off x="9819561" y="3113603"/>
            <a:ext cx="2779633" cy="310158"/>
          </a:xfrm>
          <a:prstGeom prst="rect">
            <a:avLst/>
          </a:prstGeom>
          <a:noFill/>
          <a:ln/>
        </p:spPr>
        <p:txBody>
          <a:bodyPr wrap="non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Hallucination Detection</a:t>
            </a:r>
            <a:endParaRPr lang="en-US" sz="1950" dirty="0"/>
          </a:p>
        </p:txBody>
      </p:sp>
      <p:sp>
        <p:nvSpPr>
          <p:cNvPr id="22" name="Text 14"/>
          <p:cNvSpPr/>
          <p:nvPr/>
        </p:nvSpPr>
        <p:spPr>
          <a:xfrm>
            <a:off x="9819561" y="3542824"/>
            <a:ext cx="3818573"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Systematic verification protocols</a:t>
            </a:r>
            <a:endParaRPr lang="en-US" sz="1550" dirty="0"/>
          </a:p>
        </p:txBody>
      </p:sp>
      <p:sp>
        <p:nvSpPr>
          <p:cNvPr id="23" name="Text 15"/>
          <p:cNvSpPr/>
          <p:nvPr/>
        </p:nvSpPr>
        <p:spPr>
          <a:xfrm>
            <a:off x="9819561" y="3979426"/>
            <a:ext cx="3818573"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Competitive practice built instincts</a:t>
            </a:r>
            <a:endParaRPr lang="en-US" sz="1550" dirty="0"/>
          </a:p>
        </p:txBody>
      </p:sp>
      <p:sp>
        <p:nvSpPr>
          <p:cNvPr id="24" name="Text 16"/>
          <p:cNvSpPr/>
          <p:nvPr/>
        </p:nvSpPr>
        <p:spPr>
          <a:xfrm>
            <a:off x="9819561" y="4416028"/>
            <a:ext cx="3818573"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Citation, data, technique checks</a:t>
            </a:r>
            <a:endParaRPr lang="en-US" sz="1550" dirty="0"/>
          </a:p>
        </p:txBody>
      </p:sp>
      <p:sp>
        <p:nvSpPr>
          <p:cNvPr id="25" name="Text 17"/>
          <p:cNvSpPr/>
          <p:nvPr/>
        </p:nvSpPr>
        <p:spPr>
          <a:xfrm>
            <a:off x="793790" y="5790247"/>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Tomorrow: Technical architecture &amp; Green AI</a:t>
            </a:r>
            <a:endParaRPr lang="en-US" sz="1550" dirty="0"/>
          </a:p>
        </p:txBody>
      </p:sp>
      <p:sp>
        <p:nvSpPr>
          <p:cNvPr id="26" name="Text 18"/>
          <p:cNvSpPr/>
          <p:nvPr/>
        </p:nvSpPr>
        <p:spPr>
          <a:xfrm>
            <a:off x="793790" y="6331029"/>
            <a:ext cx="13042821" cy="127015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Excellent work today! You've mastered context - understanding why vague fails and precise succeeds. You can build context systematically. You've learnt CO-STAR for strategic communication and can choose between AUTOMAT and CO-STAR appropriately. And you've developed verification instincts through competitive practice. Tomorrow we shift to technical understanding - how LLMs work, environmental impact, green AI strategies. Outstanding participation today!</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649486"/>
            <a:ext cx="6005989"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Action Items Before Day 3</a:t>
            </a:r>
            <a:endParaRPr lang="en-US" sz="3900" dirty="0"/>
          </a:p>
        </p:txBody>
      </p:sp>
      <p:sp>
        <p:nvSpPr>
          <p:cNvPr id="3" name="Text 1"/>
          <p:cNvSpPr/>
          <p:nvPr/>
        </p:nvSpPr>
        <p:spPr>
          <a:xfrm>
            <a:off x="793790" y="1348859"/>
            <a:ext cx="4245293"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Before Day 3 (Optional)</a:t>
            </a:r>
            <a:endParaRPr lang="en-US" sz="3100" dirty="0"/>
          </a:p>
        </p:txBody>
      </p:sp>
      <p:sp>
        <p:nvSpPr>
          <p:cNvPr id="4" name="Text 2"/>
          <p:cNvSpPr/>
          <p:nvPr/>
        </p:nvSpPr>
        <p:spPr>
          <a:xfrm>
            <a:off x="793790" y="2142649"/>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Try one CO-STAR prompt in your work (Strategic document, report, or communication)</a:t>
            </a:r>
            <a:endParaRPr lang="en-US" sz="1550" dirty="0"/>
          </a:p>
        </p:txBody>
      </p:sp>
      <p:sp>
        <p:nvSpPr>
          <p:cNvPr id="5" name="Text 3"/>
          <p:cNvSpPr/>
          <p:nvPr/>
        </p:nvSpPr>
        <p:spPr>
          <a:xfrm>
            <a:off x="793790" y="2529602"/>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Practise verification on AI output you receive (Apply the checklists)</a:t>
            </a:r>
            <a:endParaRPr lang="en-US" sz="1550" dirty="0"/>
          </a:p>
        </p:txBody>
      </p:sp>
      <p:sp>
        <p:nvSpPr>
          <p:cNvPr id="6" name="Text 4"/>
          <p:cNvSpPr/>
          <p:nvPr/>
        </p:nvSpPr>
        <p:spPr>
          <a:xfrm>
            <a:off x="793790" y="2916555"/>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Review Day 2 content on website (Especially CO-STAR examples)</a:t>
            </a:r>
            <a:endParaRPr lang="en-US" sz="1550" dirty="0"/>
          </a:p>
        </p:txBody>
      </p:sp>
      <p:sp>
        <p:nvSpPr>
          <p:cNvPr id="7" name="Text 5"/>
          <p:cNvSpPr/>
          <p:nvPr/>
        </p:nvSpPr>
        <p:spPr>
          <a:xfrm>
            <a:off x="793790" y="3303508"/>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Optional pre-reading:</a:t>
            </a:r>
            <a:endParaRPr lang="en-US" sz="1550" dirty="0"/>
          </a:p>
        </p:txBody>
      </p:sp>
      <p:sp>
        <p:nvSpPr>
          <p:cNvPr id="8" name="Text 6"/>
          <p:cNvSpPr/>
          <p:nvPr/>
        </p:nvSpPr>
        <p:spPr>
          <a:xfrm>
            <a:off x="793790" y="3690461"/>
            <a:ext cx="13042821" cy="317540"/>
          </a:xfrm>
          <a:prstGeom prst="rect">
            <a:avLst/>
          </a:prstGeom>
          <a:noFill/>
          <a:ln/>
        </p:spPr>
        <p:txBody>
          <a:bodyPr wrap="none" lIns="0" tIns="0" rIns="0" bIns="0" rtlCol="0" anchor="t"/>
          <a:lstStyle/>
          <a:p>
            <a:pPr algn="l" lvl="1" marL="6858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NLMs vs LLMs</a:t>
            </a:r>
            <a:endParaRPr lang="en-US" sz="1550" dirty="0"/>
          </a:p>
        </p:txBody>
      </p:sp>
      <p:sp>
        <p:nvSpPr>
          <p:cNvPr id="9" name="Text 7"/>
          <p:cNvSpPr/>
          <p:nvPr/>
        </p:nvSpPr>
        <p:spPr>
          <a:xfrm>
            <a:off x="793790" y="4077414"/>
            <a:ext cx="13042821" cy="317540"/>
          </a:xfrm>
          <a:prstGeom prst="rect">
            <a:avLst/>
          </a:prstGeom>
          <a:noFill/>
          <a:ln/>
        </p:spPr>
        <p:txBody>
          <a:bodyPr wrap="none" lIns="0" tIns="0" rIns="0" bIns="0" rtlCol="0" anchor="t"/>
          <a:lstStyle/>
          <a:p>
            <a:pPr algn="l" lvl="1" marL="6858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Green AI introduction</a:t>
            </a:r>
            <a:endParaRPr lang="en-US" sz="1550" dirty="0"/>
          </a:p>
        </p:txBody>
      </p:sp>
      <p:sp>
        <p:nvSpPr>
          <p:cNvPr id="10" name="Text 8"/>
          <p:cNvSpPr/>
          <p:nvPr/>
        </p:nvSpPr>
        <p:spPr>
          <a:xfrm>
            <a:off x="793790" y="4464367"/>
            <a:ext cx="13042821" cy="317540"/>
          </a:xfrm>
          <a:prstGeom prst="rect">
            <a:avLst/>
          </a:prstGeom>
          <a:noFill/>
          <a:ln/>
        </p:spPr>
        <p:txBody>
          <a:bodyPr wrap="none" lIns="0" tIns="0" rIns="0" bIns="0" rtlCol="0" anchor="t"/>
          <a:lstStyle/>
          <a:p>
            <a:pPr algn="l" lvl="1" marL="6858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Environmental impact</a:t>
            </a:r>
            <a:endParaRPr lang="en-US" sz="1550" dirty="0"/>
          </a:p>
        </p:txBody>
      </p:sp>
      <p:sp>
        <p:nvSpPr>
          <p:cNvPr id="11" name="Text 9"/>
          <p:cNvSpPr/>
          <p:nvPr/>
        </p:nvSpPr>
        <p:spPr>
          <a:xfrm>
            <a:off x="793790" y="5005149"/>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Website:</a:t>
            </a:r>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[URL]</a:t>
            </a:r>
            <a:endParaRPr lang="en-US" sz="1550" dirty="0"/>
          </a:p>
        </p:txBody>
      </p:sp>
      <p:sp>
        <p:nvSpPr>
          <p:cNvPr id="12" name="Text 10"/>
          <p:cNvSpPr/>
          <p:nvPr/>
        </p:nvSpPr>
        <p:spPr>
          <a:xfrm>
            <a:off x="793790" y="5545931"/>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Password:</a:t>
            </a:r>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 AmaDema2026</a:t>
            </a:r>
            <a:endParaRPr lang="en-US" sz="1550" dirty="0"/>
          </a:p>
        </p:txBody>
      </p:sp>
      <p:sp>
        <p:nvSpPr>
          <p:cNvPr id="13" name="Text 11"/>
          <p:cNvSpPr/>
          <p:nvPr/>
        </p:nvSpPr>
        <p:spPr>
          <a:xfrm>
            <a:off x="793790" y="6086713"/>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No pressure - Day 3 stands alone!</a:t>
            </a:r>
            <a:endParaRPr lang="en-US" sz="1550" dirty="0"/>
          </a:p>
        </p:txBody>
      </p:sp>
      <p:sp>
        <p:nvSpPr>
          <p:cNvPr id="14" name="Text 12"/>
          <p:cNvSpPr/>
          <p:nvPr/>
        </p:nvSpPr>
        <p:spPr>
          <a:xfrm>
            <a:off x="793790" y="6627495"/>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Optional homework before Day 3. Try CO-STAR on a real strategic document from your work. Practise verification on any AI output you encounter. Review today's content on website. Optional pre-reading on technical topics. But no pressure - Day 3 will cover everything needed. Website credentials on screen.</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939885"/>
            <a:ext cx="5166598"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Reflection &amp; Feedback</a:t>
            </a:r>
            <a:endParaRPr lang="en-US" sz="3900" dirty="0"/>
          </a:p>
        </p:txBody>
      </p:sp>
      <p:sp>
        <p:nvSpPr>
          <p:cNvPr id="3" name="Text 1"/>
          <p:cNvSpPr/>
          <p:nvPr/>
        </p:nvSpPr>
        <p:spPr>
          <a:xfrm>
            <a:off x="793790" y="2639258"/>
            <a:ext cx="5297805"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Quick Reflection (5 minutes)</a:t>
            </a:r>
            <a:endParaRPr lang="en-US" sz="3100" dirty="0"/>
          </a:p>
        </p:txBody>
      </p:sp>
      <p:sp>
        <p:nvSpPr>
          <p:cNvPr id="4" name="Text 2"/>
          <p:cNvSpPr/>
          <p:nvPr/>
        </p:nvSpPr>
        <p:spPr>
          <a:xfrm>
            <a:off x="793790" y="3214688"/>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Three Questions:</a:t>
            </a:r>
            <a:endParaRPr lang="en-US" sz="2300" dirty="0"/>
          </a:p>
        </p:txBody>
      </p:sp>
      <p:sp>
        <p:nvSpPr>
          <p:cNvPr id="5" name="Shape 3"/>
          <p:cNvSpPr/>
          <p:nvPr/>
        </p:nvSpPr>
        <p:spPr>
          <a:xfrm>
            <a:off x="793790" y="3884414"/>
            <a:ext cx="446484" cy="446484"/>
          </a:xfrm>
          <a:prstGeom prst="roundRect">
            <a:avLst>
              <a:gd name="adj" fmla="val 6668"/>
            </a:avLst>
          </a:prstGeom>
          <a:solidFill>
            <a:srgbClr val="E9ECF2"/>
          </a:solidFill>
          <a:ln/>
        </p:spPr>
      </p:sp>
      <p:sp>
        <p:nvSpPr>
          <p:cNvPr id="6" name="Text 4"/>
          <p:cNvSpPr/>
          <p:nvPr/>
        </p:nvSpPr>
        <p:spPr>
          <a:xfrm>
            <a:off x="868204" y="3921621"/>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15213F"/>
                </a:solidFill>
                <a:latin typeface="Roboto Slab" pitchFamily="34" charset="0"/>
                <a:ea typeface="Roboto Slab" pitchFamily="34" charset="-122"/>
                <a:cs typeface="Roboto Slab" pitchFamily="34" charset="-120"/>
              </a:rPr>
              <a:t>1</a:t>
            </a:r>
            <a:endParaRPr lang="en-US" sz="2300" dirty="0"/>
          </a:p>
        </p:txBody>
      </p:sp>
      <p:sp>
        <p:nvSpPr>
          <p:cNvPr id="7" name="Text 5"/>
          <p:cNvSpPr/>
          <p:nvPr/>
        </p:nvSpPr>
        <p:spPr>
          <a:xfrm>
            <a:off x="1438632" y="3952637"/>
            <a:ext cx="3537347" cy="620316"/>
          </a:xfrm>
          <a:prstGeom prst="rect">
            <a:avLst/>
          </a:prstGeom>
          <a:noFill/>
          <a:ln/>
        </p:spPr>
        <p:txBody>
          <a:bodyPr wrap="squar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What was your biggest "aha" moment today?</a:t>
            </a:r>
            <a:endParaRPr lang="en-US" sz="1950" dirty="0"/>
          </a:p>
        </p:txBody>
      </p:sp>
      <p:sp>
        <p:nvSpPr>
          <p:cNvPr id="8" name="Shape 6"/>
          <p:cNvSpPr/>
          <p:nvPr/>
        </p:nvSpPr>
        <p:spPr>
          <a:xfrm>
            <a:off x="5223986" y="3884414"/>
            <a:ext cx="446484" cy="446484"/>
          </a:xfrm>
          <a:prstGeom prst="roundRect">
            <a:avLst>
              <a:gd name="adj" fmla="val 6668"/>
            </a:avLst>
          </a:prstGeom>
          <a:solidFill>
            <a:srgbClr val="E9ECF2"/>
          </a:solidFill>
          <a:ln/>
        </p:spPr>
      </p:sp>
      <p:sp>
        <p:nvSpPr>
          <p:cNvPr id="9" name="Text 7"/>
          <p:cNvSpPr/>
          <p:nvPr/>
        </p:nvSpPr>
        <p:spPr>
          <a:xfrm>
            <a:off x="5298400" y="3921621"/>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15213F"/>
                </a:solidFill>
                <a:latin typeface="Roboto Slab" pitchFamily="34" charset="0"/>
                <a:ea typeface="Roboto Slab" pitchFamily="34" charset="-122"/>
                <a:cs typeface="Roboto Slab" pitchFamily="34" charset="-120"/>
              </a:rPr>
              <a:t>2</a:t>
            </a:r>
            <a:endParaRPr lang="en-US" sz="2300" dirty="0"/>
          </a:p>
        </p:txBody>
      </p:sp>
      <p:sp>
        <p:nvSpPr>
          <p:cNvPr id="10" name="Text 8"/>
          <p:cNvSpPr/>
          <p:nvPr/>
        </p:nvSpPr>
        <p:spPr>
          <a:xfrm>
            <a:off x="5868829" y="3952637"/>
            <a:ext cx="3537466" cy="620316"/>
          </a:xfrm>
          <a:prstGeom prst="rect">
            <a:avLst/>
          </a:prstGeom>
          <a:noFill/>
          <a:ln/>
        </p:spPr>
        <p:txBody>
          <a:bodyPr wrap="squar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What skill will you use this week?</a:t>
            </a:r>
            <a:endParaRPr lang="en-US" sz="1950" dirty="0"/>
          </a:p>
        </p:txBody>
      </p:sp>
      <p:sp>
        <p:nvSpPr>
          <p:cNvPr id="11" name="Shape 9"/>
          <p:cNvSpPr/>
          <p:nvPr/>
        </p:nvSpPr>
        <p:spPr>
          <a:xfrm>
            <a:off x="9654302" y="3884414"/>
            <a:ext cx="446484" cy="446484"/>
          </a:xfrm>
          <a:prstGeom prst="roundRect">
            <a:avLst>
              <a:gd name="adj" fmla="val 6668"/>
            </a:avLst>
          </a:prstGeom>
          <a:solidFill>
            <a:srgbClr val="E9ECF2"/>
          </a:solidFill>
          <a:ln/>
        </p:spPr>
      </p:sp>
      <p:sp>
        <p:nvSpPr>
          <p:cNvPr id="12" name="Text 10"/>
          <p:cNvSpPr/>
          <p:nvPr/>
        </p:nvSpPr>
        <p:spPr>
          <a:xfrm>
            <a:off x="9728716" y="3921621"/>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15213F"/>
                </a:solidFill>
                <a:latin typeface="Roboto Slab" pitchFamily="34" charset="0"/>
                <a:ea typeface="Roboto Slab" pitchFamily="34" charset="-122"/>
                <a:cs typeface="Roboto Slab" pitchFamily="34" charset="-120"/>
              </a:rPr>
              <a:t>3</a:t>
            </a:r>
            <a:endParaRPr lang="en-US" sz="2300" dirty="0"/>
          </a:p>
        </p:txBody>
      </p:sp>
      <p:sp>
        <p:nvSpPr>
          <p:cNvPr id="13" name="Text 11"/>
          <p:cNvSpPr/>
          <p:nvPr/>
        </p:nvSpPr>
        <p:spPr>
          <a:xfrm>
            <a:off x="10299144" y="3952637"/>
            <a:ext cx="3537466" cy="620316"/>
          </a:xfrm>
          <a:prstGeom prst="rect">
            <a:avLst/>
          </a:prstGeom>
          <a:noFill/>
          <a:ln/>
        </p:spPr>
        <p:txBody>
          <a:bodyPr wrap="square" lIns="0" tIns="0" rIns="0" bIns="0" rtlCol="0" anchor="t"/>
          <a:lstStyle/>
          <a:p>
            <a:pPr algn="l" indent="0" marL="0">
              <a:lnSpc>
                <a:spcPts val="2400"/>
              </a:lnSpc>
              <a:buNone/>
            </a:pPr>
            <a:r>
              <a:rPr lang="en-US" sz="1950" dirty="0">
                <a:solidFill>
                  <a:srgbClr val="15213F"/>
                </a:solidFill>
                <a:latin typeface="Roboto Slab" pitchFamily="34" charset="0"/>
                <a:ea typeface="Roboto Slab" pitchFamily="34" charset="-122"/>
                <a:cs typeface="Roboto Slab" pitchFamily="34" charset="-120"/>
              </a:rPr>
              <a:t>What's still unclear or confusing?</a:t>
            </a:r>
            <a:endParaRPr lang="en-US" sz="1950" dirty="0"/>
          </a:p>
        </p:txBody>
      </p:sp>
      <p:sp>
        <p:nvSpPr>
          <p:cNvPr id="14" name="Text 12"/>
          <p:cNvSpPr/>
          <p:nvPr/>
        </p:nvSpPr>
        <p:spPr>
          <a:xfrm>
            <a:off x="793790" y="4796195"/>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Let's hear from a few people (1 minute each)</a:t>
            </a:r>
            <a:endParaRPr lang="en-US" sz="1550" dirty="0"/>
          </a:p>
        </p:txBody>
      </p:sp>
      <p:sp>
        <p:nvSpPr>
          <p:cNvPr id="15" name="Text 13"/>
          <p:cNvSpPr/>
          <p:nvPr/>
        </p:nvSpPr>
        <p:spPr>
          <a:xfrm>
            <a:off x="793790" y="5336977"/>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Before we wrap, quick reflection. Three questions: What was your biggest "aha" moment? What skill will you actually use this week? What's still unclear? Let's hear from a few people - one minute each. [Take 3-4 volunteers, acknowledge insights, address any confusion, note questions for future clarification]</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311712"/>
            <a:ext cx="10235208" cy="620078"/>
          </a:xfrm>
          <a:prstGeom prst="rect">
            <a:avLst/>
          </a:prstGeom>
          <a:noFill/>
          <a:ln/>
        </p:spPr>
        <p:txBody>
          <a:bodyPr wrap="none" lIns="0" tIns="0" rIns="0" bIns="0" rtlCol="0" anchor="t"/>
          <a:lstStyle/>
          <a:p>
            <a:pPr algn="l" indent="0" marL="0">
              <a:lnSpc>
                <a:spcPts val="4850"/>
              </a:lnSpc>
              <a:buNone/>
            </a:pPr>
            <a:r>
              <a:rPr lang="en-US" sz="3900" dirty="0">
                <a:solidFill>
                  <a:srgbClr val="3257B8"/>
                </a:solidFill>
                <a:latin typeface="Roboto Slab" pitchFamily="34" charset="0"/>
                <a:ea typeface="Roboto Slab" pitchFamily="34" charset="-122"/>
                <a:cs typeface="Roboto Slab" pitchFamily="34" charset="-120"/>
              </a:rPr>
              <a:t>Day 2 Parking Lot - Questions We'll Address</a:t>
            </a:r>
            <a:endParaRPr lang="en-US" sz="3900" dirty="0"/>
          </a:p>
        </p:txBody>
      </p:sp>
      <p:sp>
        <p:nvSpPr>
          <p:cNvPr id="3" name="Text 1"/>
          <p:cNvSpPr/>
          <p:nvPr/>
        </p:nvSpPr>
        <p:spPr>
          <a:xfrm>
            <a:off x="793790" y="2011085"/>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Roboto Slab" pitchFamily="34" charset="0"/>
                <a:ea typeface="Roboto Slab" pitchFamily="34" charset="-122"/>
                <a:cs typeface="Roboto Slab" pitchFamily="34" charset="-120"/>
              </a:rPr>
              <a:t>Questions for Later</a:t>
            </a:r>
            <a:endParaRPr lang="en-US" sz="3100" dirty="0"/>
          </a:p>
        </p:txBody>
      </p:sp>
      <p:sp>
        <p:nvSpPr>
          <p:cNvPr id="4" name="Text 2"/>
          <p:cNvSpPr/>
          <p:nvPr/>
        </p:nvSpPr>
        <p:spPr>
          <a:xfrm>
            <a:off x="793790" y="280487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During exercises, these questions came up:</a:t>
            </a:r>
            <a:endParaRPr lang="en-US" sz="1550" dirty="0"/>
          </a:p>
        </p:txBody>
      </p:sp>
      <p:sp>
        <p:nvSpPr>
          <p:cNvPr id="5" name="Text 3"/>
          <p:cNvSpPr/>
          <p:nvPr/>
        </p:nvSpPr>
        <p:spPr>
          <a:xfrm>
            <a:off x="793790" y="3345656"/>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[List questions that arose but weren't answered due to time/relevance]</a:t>
            </a:r>
            <a:endParaRPr lang="en-US" sz="1550" dirty="0"/>
          </a:p>
        </p:txBody>
      </p:sp>
      <p:sp>
        <p:nvSpPr>
          <p:cNvPr id="6" name="Text 4"/>
          <p:cNvSpPr/>
          <p:nvPr/>
        </p:nvSpPr>
        <p:spPr>
          <a:xfrm>
            <a:off x="793790" y="3886438"/>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We'll address these:</a:t>
            </a:r>
            <a:endParaRPr lang="en-US" sz="1550" dirty="0"/>
          </a:p>
        </p:txBody>
      </p:sp>
      <p:sp>
        <p:nvSpPr>
          <p:cNvPr id="7" name="Text 5"/>
          <p:cNvSpPr/>
          <p:nvPr/>
        </p:nvSpPr>
        <p:spPr>
          <a:xfrm>
            <a:off x="793790" y="4427220"/>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Via website FAQ updates</a:t>
            </a:r>
            <a:endParaRPr lang="en-US" sz="1550" dirty="0"/>
          </a:p>
        </p:txBody>
      </p:sp>
      <p:sp>
        <p:nvSpPr>
          <p:cNvPr id="8" name="Text 6"/>
          <p:cNvSpPr/>
          <p:nvPr/>
        </p:nvSpPr>
        <p:spPr>
          <a:xfrm>
            <a:off x="793790" y="4814173"/>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At Day 3 start (if relevant)</a:t>
            </a:r>
            <a:endParaRPr lang="en-US" sz="1550" dirty="0"/>
          </a:p>
        </p:txBody>
      </p:sp>
      <p:sp>
        <p:nvSpPr>
          <p:cNvPr id="9" name="Text 7"/>
          <p:cNvSpPr/>
          <p:nvPr/>
        </p:nvSpPr>
        <p:spPr>
          <a:xfrm>
            <a:off x="793790" y="5201126"/>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Via email after training</a:t>
            </a:r>
            <a:endParaRPr lang="en-US" sz="1550" dirty="0"/>
          </a:p>
        </p:txBody>
      </p:sp>
      <p:sp>
        <p:nvSpPr>
          <p:cNvPr id="10" name="Text 8"/>
          <p:cNvSpPr/>
          <p:nvPr/>
        </p:nvSpPr>
        <p:spPr>
          <a:xfrm>
            <a:off x="793790" y="5741908"/>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15213F"/>
                </a:solidFill>
                <a:latin typeface="Roboto" pitchFamily="34" charset="0"/>
                <a:ea typeface="Roboto" pitchFamily="34" charset="-122"/>
                <a:cs typeface="Roboto" pitchFamily="34" charset="-120"/>
              </a:rPr>
              <a:t>Anything else to add to parking lot?</a:t>
            </a:r>
            <a:endParaRPr lang="en-US" sz="1550" dirty="0"/>
          </a:p>
        </p:txBody>
      </p:sp>
      <p:sp>
        <p:nvSpPr>
          <p:cNvPr id="11" name="Text 9"/>
          <p:cNvSpPr/>
          <p:nvPr/>
        </p:nvSpPr>
        <p:spPr>
          <a:xfrm>
            <a:off x="793790" y="628269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15213F"/>
                </a:solidFill>
                <a:latin typeface="Roboto" pitchFamily="34" charset="0"/>
                <a:ea typeface="Roboto" pitchFamily="34" charset="-122"/>
                <a:cs typeface="Roboto" pitchFamily="34" charset="-120"/>
              </a:rPr>
              <a:t>Quick parking lot check. These questions came up today but we didn't have time to fully address. [List any noted questions]. We'll handle these via website updates, email, or Day 3 start if relevant. Anything else you want in the parking lot? Good. We'll make sure all questions get answered.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346597" y="455414"/>
            <a:ext cx="4128492" cy="516136"/>
          </a:xfrm>
          <a:prstGeom prst="rect">
            <a:avLst/>
          </a:prstGeom>
          <a:noFill/>
          <a:ln/>
        </p:spPr>
        <p:txBody>
          <a:bodyPr wrap="none" lIns="0" tIns="0" rIns="0" bIns="0" rtlCol="0" anchor="t"/>
          <a:lstStyle/>
          <a:p>
            <a:pPr algn="l" indent="0" marL="0">
              <a:lnSpc>
                <a:spcPts val="4050"/>
              </a:lnSpc>
              <a:buNone/>
            </a:pPr>
            <a:r>
              <a:rPr lang="en-US" sz="3250" dirty="0">
                <a:solidFill>
                  <a:srgbClr val="3257B8"/>
                </a:solidFill>
                <a:latin typeface="Roboto Slab" pitchFamily="34" charset="0"/>
                <a:ea typeface="Roboto Slab" pitchFamily="34" charset="-122"/>
                <a:cs typeface="Roboto Slab" pitchFamily="34" charset="-120"/>
              </a:rPr>
              <a:t>Resource Reminder</a:t>
            </a:r>
            <a:endParaRPr lang="en-US" sz="3250" dirty="0"/>
          </a:p>
        </p:txBody>
      </p:sp>
      <p:sp>
        <p:nvSpPr>
          <p:cNvPr id="3" name="Text 1"/>
          <p:cNvSpPr/>
          <p:nvPr/>
        </p:nvSpPr>
        <p:spPr>
          <a:xfrm>
            <a:off x="1346597" y="1037511"/>
            <a:ext cx="3302794" cy="412790"/>
          </a:xfrm>
          <a:prstGeom prst="rect">
            <a:avLst/>
          </a:prstGeom>
          <a:noFill/>
          <a:ln/>
        </p:spPr>
        <p:txBody>
          <a:bodyPr wrap="none" lIns="0" tIns="0" rIns="0" bIns="0" rtlCol="0" anchor="t"/>
          <a:lstStyle/>
          <a:p>
            <a:pPr algn="l" indent="0" marL="0">
              <a:lnSpc>
                <a:spcPts val="3250"/>
              </a:lnSpc>
              <a:buNone/>
            </a:pPr>
            <a:r>
              <a:rPr lang="en-US" sz="2600" dirty="0">
                <a:solidFill>
                  <a:srgbClr val="3257B8"/>
                </a:solidFill>
                <a:latin typeface="Roboto Slab" pitchFamily="34" charset="0"/>
                <a:ea typeface="Roboto Slab" pitchFamily="34" charset="-122"/>
                <a:cs typeface="Roboto Slab" pitchFamily="34" charset="-120"/>
              </a:rPr>
              <a:t>Your Resources</a:t>
            </a:r>
            <a:endParaRPr lang="en-US" sz="2600" dirty="0"/>
          </a:p>
        </p:txBody>
      </p:sp>
      <p:sp>
        <p:nvSpPr>
          <p:cNvPr id="4" name="Text 2"/>
          <p:cNvSpPr/>
          <p:nvPr/>
        </p:nvSpPr>
        <p:spPr>
          <a:xfrm>
            <a:off x="1346597" y="1697950"/>
            <a:ext cx="11937206" cy="264200"/>
          </a:xfrm>
          <a:prstGeom prst="rect">
            <a:avLst/>
          </a:prstGeom>
          <a:noFill/>
          <a:ln/>
        </p:spPr>
        <p:txBody>
          <a:bodyPr wrap="none" lIns="0" tIns="0" rIns="0" bIns="0" rtlCol="0" anchor="t"/>
          <a:lstStyle/>
          <a:p>
            <a:pPr algn="l" indent="0" marL="0">
              <a:lnSpc>
                <a:spcPts val="2050"/>
              </a:lnSpc>
              <a:buNone/>
            </a:pPr>
            <a:r>
              <a:rPr lang="en-US" sz="1300" b="1" dirty="0">
                <a:solidFill>
                  <a:srgbClr val="15213F"/>
                </a:solidFill>
                <a:latin typeface="Roboto" pitchFamily="34" charset="0"/>
                <a:ea typeface="Roboto" pitchFamily="34" charset="-122"/>
                <a:cs typeface="Roboto" pitchFamily="34" charset="-120"/>
              </a:rPr>
              <a:t>Website:</a:t>
            </a:r>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 [URL]</a:t>
            </a:r>
            <a:endParaRPr lang="en-US" sz="1300" dirty="0"/>
          </a:p>
        </p:txBody>
      </p:sp>
      <p:sp>
        <p:nvSpPr>
          <p:cNvPr id="5" name="Text 3"/>
          <p:cNvSpPr/>
          <p:nvPr/>
        </p:nvSpPr>
        <p:spPr>
          <a:xfrm>
            <a:off x="1346597" y="2147888"/>
            <a:ext cx="11937206" cy="264200"/>
          </a:xfrm>
          <a:prstGeom prst="rect">
            <a:avLst/>
          </a:prstGeom>
          <a:noFill/>
          <a:ln/>
        </p:spPr>
        <p:txBody>
          <a:bodyPr wrap="none" lIns="0" tIns="0" rIns="0" bIns="0" rtlCol="0" anchor="t"/>
          <a:lstStyle/>
          <a:p>
            <a:pPr algn="l" indent="0" marL="0">
              <a:lnSpc>
                <a:spcPts val="2050"/>
              </a:lnSpc>
              <a:buNone/>
            </a:pPr>
            <a:r>
              <a:rPr lang="en-US" sz="1300" b="1" dirty="0">
                <a:solidFill>
                  <a:srgbClr val="15213F"/>
                </a:solidFill>
                <a:latin typeface="Roboto" pitchFamily="34" charset="0"/>
                <a:ea typeface="Roboto" pitchFamily="34" charset="-122"/>
                <a:cs typeface="Roboto" pitchFamily="34" charset="-120"/>
              </a:rPr>
              <a:t>Password:</a:t>
            </a:r>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 AmaDema2026</a:t>
            </a:r>
            <a:endParaRPr lang="en-US" sz="1300" dirty="0"/>
          </a:p>
        </p:txBody>
      </p:sp>
      <p:sp>
        <p:nvSpPr>
          <p:cNvPr id="6" name="Text 4"/>
          <p:cNvSpPr/>
          <p:nvPr/>
        </p:nvSpPr>
        <p:spPr>
          <a:xfrm>
            <a:off x="1346597" y="2659737"/>
            <a:ext cx="2477095" cy="309682"/>
          </a:xfrm>
          <a:prstGeom prst="rect">
            <a:avLst/>
          </a:prstGeom>
          <a:noFill/>
          <a:ln/>
        </p:spPr>
        <p:txBody>
          <a:bodyPr wrap="none" lIns="0" tIns="0" rIns="0" bIns="0" rtlCol="0" anchor="t"/>
          <a:lstStyle/>
          <a:p>
            <a:pPr algn="l" indent="0" marL="0">
              <a:lnSpc>
                <a:spcPts val="2400"/>
              </a:lnSpc>
              <a:buNone/>
            </a:pPr>
            <a:r>
              <a:rPr lang="en-US" sz="1950" dirty="0">
                <a:solidFill>
                  <a:srgbClr val="3257B8"/>
                </a:solidFill>
                <a:latin typeface="Roboto Slab" pitchFamily="34" charset="0"/>
                <a:ea typeface="Roboto Slab" pitchFamily="34" charset="-122"/>
                <a:cs typeface="Roboto Slab" pitchFamily="34" charset="-120"/>
              </a:rPr>
              <a:t>Available Now:</a:t>
            </a:r>
            <a:endParaRPr lang="en-US" sz="1950" dirty="0"/>
          </a:p>
        </p:txBody>
      </p:sp>
      <p:sp>
        <p:nvSpPr>
          <p:cNvPr id="7" name="Text 5"/>
          <p:cNvSpPr/>
          <p:nvPr/>
        </p:nvSpPr>
        <p:spPr>
          <a:xfrm>
            <a:off x="1346597" y="3217069"/>
            <a:ext cx="11937206" cy="264200"/>
          </a:xfrm>
          <a:prstGeom prst="rect">
            <a:avLst/>
          </a:prstGeom>
          <a:noFill/>
          <a:ln/>
        </p:spPr>
        <p:txBody>
          <a:bodyPr wrap="none" lIns="0" tIns="0" rIns="0" bIns="0" rtlCol="0" anchor="t"/>
          <a:lstStyle/>
          <a:p>
            <a:pPr algn="l" marL="342900" indent="-342900">
              <a:lnSpc>
                <a:spcPts val="2050"/>
              </a:lnSpc>
              <a:buSzPct val="100000"/>
              <a:buChar char="•"/>
            </a:pPr>
            <a:r>
              <a:rPr lang="en-US" sz="1300" dirty="0">
                <a:solidFill>
                  <a:srgbClr val="000000"/>
                </a:solidFill>
                <a:latin typeface="Roboto" pitchFamily="34" charset="0"/>
                <a:ea typeface="Roboto" pitchFamily="34" charset="-122"/>
                <a:cs typeface="Roboto" pitchFamily="34" charset="-120"/>
              </a:rPr>
              <a:t>📄</a:t>
            </a:r>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 Day 1 &amp; 2 complete content</a:t>
            </a:r>
            <a:endParaRPr lang="en-US" sz="1300" dirty="0"/>
          </a:p>
        </p:txBody>
      </p:sp>
      <p:sp>
        <p:nvSpPr>
          <p:cNvPr id="8" name="Text 6"/>
          <p:cNvSpPr/>
          <p:nvPr/>
        </p:nvSpPr>
        <p:spPr>
          <a:xfrm>
            <a:off x="1346597" y="3539014"/>
            <a:ext cx="11937206" cy="264200"/>
          </a:xfrm>
          <a:prstGeom prst="rect">
            <a:avLst/>
          </a:prstGeom>
          <a:noFill/>
          <a:ln/>
        </p:spPr>
        <p:txBody>
          <a:bodyPr wrap="none" lIns="0" tIns="0" rIns="0" bIns="0" rtlCol="0" anchor="t"/>
          <a:lstStyle/>
          <a:p>
            <a:pPr algn="l" marL="342900" indent="-342900">
              <a:lnSpc>
                <a:spcPts val="2050"/>
              </a:lnSpc>
              <a:buSzPct val="100000"/>
              <a:buChar char="•"/>
            </a:pPr>
            <a:r>
              <a:rPr lang="en-US" sz="1300" dirty="0">
                <a:solidFill>
                  <a:srgbClr val="000000"/>
                </a:solidFill>
                <a:latin typeface="Roboto" pitchFamily="34" charset="0"/>
                <a:ea typeface="Roboto" pitchFamily="34" charset="-122"/>
                <a:cs typeface="Roboto" pitchFamily="34" charset="-120"/>
              </a:rPr>
              <a:t>📋</a:t>
            </a:r>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 AUTOMAT &amp; CO-STAR cheat sheets</a:t>
            </a:r>
            <a:endParaRPr lang="en-US" sz="1300" dirty="0"/>
          </a:p>
        </p:txBody>
      </p:sp>
      <p:sp>
        <p:nvSpPr>
          <p:cNvPr id="9" name="Text 7"/>
          <p:cNvSpPr/>
          <p:nvPr/>
        </p:nvSpPr>
        <p:spPr>
          <a:xfrm>
            <a:off x="1346597" y="3860959"/>
            <a:ext cx="11937206" cy="264200"/>
          </a:xfrm>
          <a:prstGeom prst="rect">
            <a:avLst/>
          </a:prstGeom>
          <a:noFill/>
          <a:ln/>
        </p:spPr>
        <p:txBody>
          <a:bodyPr wrap="none" lIns="0" tIns="0" rIns="0" bIns="0" rtlCol="0" anchor="t"/>
          <a:lstStyle/>
          <a:p>
            <a:pPr algn="l" marL="342900" indent="-342900">
              <a:lnSpc>
                <a:spcPts val="2050"/>
              </a:lnSpc>
              <a:buSzPct val="100000"/>
              <a:buChar char="•"/>
            </a:pPr>
            <a:r>
              <a:rPr lang="en-US" sz="1300" dirty="0">
                <a:solidFill>
                  <a:srgbClr val="000000"/>
                </a:solidFill>
                <a:latin typeface="Roboto" pitchFamily="34" charset="0"/>
                <a:ea typeface="Roboto" pitchFamily="34" charset="-122"/>
                <a:cs typeface="Roboto" pitchFamily="34" charset="-120"/>
              </a:rPr>
              <a:t>🎯</a:t>
            </a:r>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 Exercise examples &amp; solutions</a:t>
            </a:r>
            <a:endParaRPr lang="en-US" sz="1300" dirty="0"/>
          </a:p>
        </p:txBody>
      </p:sp>
      <p:sp>
        <p:nvSpPr>
          <p:cNvPr id="10" name="Text 8"/>
          <p:cNvSpPr/>
          <p:nvPr/>
        </p:nvSpPr>
        <p:spPr>
          <a:xfrm>
            <a:off x="1346597" y="4182904"/>
            <a:ext cx="11937206" cy="264200"/>
          </a:xfrm>
          <a:prstGeom prst="rect">
            <a:avLst/>
          </a:prstGeom>
          <a:noFill/>
          <a:ln/>
        </p:spPr>
        <p:txBody>
          <a:bodyPr wrap="none" lIns="0" tIns="0" rIns="0" bIns="0" rtlCol="0" anchor="t"/>
          <a:lstStyle/>
          <a:p>
            <a:pPr algn="l" marL="342900" indent="-342900">
              <a:lnSpc>
                <a:spcPts val="2050"/>
              </a:lnSpc>
              <a:buSzPct val="100000"/>
              <a:buChar char="•"/>
            </a:pPr>
            <a:r>
              <a:rPr lang="en-US" sz="1300" dirty="0">
                <a:solidFill>
                  <a:srgbClr val="000000"/>
                </a:solidFill>
                <a:latin typeface="Roboto" pitchFamily="34" charset="0"/>
                <a:ea typeface="Roboto" pitchFamily="34" charset="-122"/>
                <a:cs typeface="Roboto" pitchFamily="34" charset="-120"/>
              </a:rPr>
              <a:t>📚</a:t>
            </a:r>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 Golden prompts library</a:t>
            </a:r>
            <a:endParaRPr lang="en-US" sz="1300" dirty="0"/>
          </a:p>
        </p:txBody>
      </p:sp>
      <p:sp>
        <p:nvSpPr>
          <p:cNvPr id="11" name="Text 9"/>
          <p:cNvSpPr/>
          <p:nvPr/>
        </p:nvSpPr>
        <p:spPr>
          <a:xfrm>
            <a:off x="1346597" y="4504849"/>
            <a:ext cx="11937206" cy="264200"/>
          </a:xfrm>
          <a:prstGeom prst="rect">
            <a:avLst/>
          </a:prstGeom>
          <a:noFill/>
          <a:ln/>
        </p:spPr>
        <p:txBody>
          <a:bodyPr wrap="none" lIns="0" tIns="0" rIns="0" bIns="0" rtlCol="0" anchor="t"/>
          <a:lstStyle/>
          <a:p>
            <a:pPr algn="l" marL="342900" indent="-342900">
              <a:lnSpc>
                <a:spcPts val="2050"/>
              </a:lnSpc>
              <a:buSzPct val="100000"/>
              <a:buChar char="•"/>
            </a:pPr>
            <a:r>
              <a:rPr lang="en-US" sz="1300" dirty="0">
                <a:solidFill>
                  <a:srgbClr val="000000"/>
                </a:solidFill>
                <a:latin typeface="Roboto" pitchFamily="34" charset="0"/>
                <a:ea typeface="Roboto" pitchFamily="34" charset="-122"/>
                <a:cs typeface="Roboto" pitchFamily="34" charset="-120"/>
              </a:rPr>
              <a:t>🚫</a:t>
            </a:r>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 Red List protocol</a:t>
            </a:r>
            <a:endParaRPr lang="en-US" sz="1300" dirty="0"/>
          </a:p>
        </p:txBody>
      </p:sp>
      <p:sp>
        <p:nvSpPr>
          <p:cNvPr id="12" name="Text 10"/>
          <p:cNvSpPr/>
          <p:nvPr/>
        </p:nvSpPr>
        <p:spPr>
          <a:xfrm>
            <a:off x="1346597" y="4826794"/>
            <a:ext cx="11937206" cy="264200"/>
          </a:xfrm>
          <a:prstGeom prst="rect">
            <a:avLst/>
          </a:prstGeom>
          <a:noFill/>
          <a:ln/>
        </p:spPr>
        <p:txBody>
          <a:bodyPr wrap="none" lIns="0" tIns="0" rIns="0" bIns="0" rtlCol="0" anchor="t"/>
          <a:lstStyle/>
          <a:p>
            <a:pPr algn="l" marL="342900" indent="-342900">
              <a:lnSpc>
                <a:spcPts val="2050"/>
              </a:lnSpc>
              <a:buSzPct val="100000"/>
              <a:buChar char="•"/>
            </a:pPr>
            <a:r>
              <a:rPr lang="en-US" sz="1300" dirty="0">
                <a:solidFill>
                  <a:srgbClr val="000000"/>
                </a:solidFill>
                <a:latin typeface="Roboto" pitchFamily="34" charset="0"/>
                <a:ea typeface="Roboto" pitchFamily="34" charset="-122"/>
                <a:cs typeface="Roboto" pitchFamily="34" charset="-120"/>
              </a:rPr>
              <a:t>🔗</a:t>
            </a:r>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 External resources</a:t>
            </a:r>
            <a:endParaRPr lang="en-US" sz="1300" dirty="0"/>
          </a:p>
        </p:txBody>
      </p:sp>
      <p:sp>
        <p:nvSpPr>
          <p:cNvPr id="13" name="Text 11"/>
          <p:cNvSpPr/>
          <p:nvPr/>
        </p:nvSpPr>
        <p:spPr>
          <a:xfrm>
            <a:off x="1346597" y="5338643"/>
            <a:ext cx="2477095" cy="309682"/>
          </a:xfrm>
          <a:prstGeom prst="rect">
            <a:avLst/>
          </a:prstGeom>
          <a:noFill/>
          <a:ln/>
        </p:spPr>
        <p:txBody>
          <a:bodyPr wrap="none" lIns="0" tIns="0" rIns="0" bIns="0" rtlCol="0" anchor="t"/>
          <a:lstStyle/>
          <a:p>
            <a:pPr algn="l" indent="0" marL="0">
              <a:lnSpc>
                <a:spcPts val="2400"/>
              </a:lnSpc>
              <a:buNone/>
            </a:pPr>
            <a:r>
              <a:rPr lang="en-US" sz="1950" dirty="0">
                <a:solidFill>
                  <a:srgbClr val="3257B8"/>
                </a:solidFill>
                <a:latin typeface="Roboto Slab" pitchFamily="34" charset="0"/>
                <a:ea typeface="Roboto Slab" pitchFamily="34" charset="-122"/>
                <a:cs typeface="Roboto Slab" pitchFamily="34" charset="-120"/>
              </a:rPr>
              <a:t>Sandbox Access:</a:t>
            </a:r>
            <a:endParaRPr lang="en-US" sz="1950" dirty="0"/>
          </a:p>
        </p:txBody>
      </p:sp>
      <p:sp>
        <p:nvSpPr>
          <p:cNvPr id="14" name="Text 12"/>
          <p:cNvSpPr/>
          <p:nvPr/>
        </p:nvSpPr>
        <p:spPr>
          <a:xfrm>
            <a:off x="1346597" y="5895975"/>
            <a:ext cx="11937206" cy="264200"/>
          </a:xfrm>
          <a:prstGeom prst="rect">
            <a:avLst/>
          </a:prstGeom>
          <a:noFill/>
          <a:ln/>
        </p:spPr>
        <p:txBody>
          <a:bodyPr wrap="none" lIns="0" tIns="0" rIns="0" bIns="0" rtlCol="0" anchor="t"/>
          <a:lstStyle/>
          <a:p>
            <a:pPr algn="l" indent="0" marL="0">
              <a:lnSpc>
                <a:spcPts val="2050"/>
              </a:lnSpc>
              <a:buNone/>
            </a:pPr>
            <a:r>
              <a:rPr lang="en-US" sz="1300" dirty="0">
                <a:solidFill>
                  <a:srgbClr val="000000"/>
                </a:solidFill>
                <a:latin typeface="Roboto" pitchFamily="34" charset="0"/>
                <a:ea typeface="Roboto" pitchFamily="34" charset="-122"/>
                <a:cs typeface="Roboto" pitchFamily="34" charset="-120"/>
              </a:rPr>
              <a:t>💻</a:t>
            </a:r>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 http://[INSTRUCTOR-IP]:3000</a:t>
            </a:r>
            <a:endParaRPr lang="en-US" sz="1300" dirty="0"/>
          </a:p>
        </p:txBody>
      </p:sp>
      <p:sp>
        <p:nvSpPr>
          <p:cNvPr id="15" name="Text 13"/>
          <p:cNvSpPr/>
          <p:nvPr/>
        </p:nvSpPr>
        <p:spPr>
          <a:xfrm>
            <a:off x="1346597" y="6345912"/>
            <a:ext cx="11937206" cy="264200"/>
          </a:xfrm>
          <a:prstGeom prst="rect">
            <a:avLst/>
          </a:prstGeom>
          <a:noFill/>
          <a:ln/>
        </p:spPr>
        <p:txBody>
          <a:bodyPr wrap="none" lIns="0" tIns="0" rIns="0" bIns="0" rtlCol="0" anchor="t"/>
          <a:lstStyle/>
          <a:p>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(Available during all sessions)</a:t>
            </a:r>
            <a:endParaRPr lang="en-US" sz="1300" dirty="0"/>
          </a:p>
        </p:txBody>
      </p:sp>
      <p:sp>
        <p:nvSpPr>
          <p:cNvPr id="16" name="Text 14"/>
          <p:cNvSpPr/>
          <p:nvPr/>
        </p:nvSpPr>
        <p:spPr>
          <a:xfrm>
            <a:off x="1346597" y="6795849"/>
            <a:ext cx="11937206" cy="264200"/>
          </a:xfrm>
          <a:prstGeom prst="rect">
            <a:avLst/>
          </a:prstGeom>
          <a:noFill/>
          <a:ln/>
        </p:spPr>
        <p:txBody>
          <a:bodyPr wrap="none" lIns="0" tIns="0" rIns="0" bIns="0" rtlCol="0" anchor="t"/>
          <a:lstStyle/>
          <a:p>
            <a:pPr algn="l" indent="0" marL="0">
              <a:lnSpc>
                <a:spcPts val="2050"/>
              </a:lnSpc>
              <a:buNone/>
            </a:pPr>
            <a:r>
              <a:rPr lang="en-US" sz="1300" b="1" dirty="0">
                <a:solidFill>
                  <a:srgbClr val="15213F"/>
                </a:solidFill>
                <a:latin typeface="Roboto" pitchFamily="34" charset="0"/>
                <a:ea typeface="Roboto" pitchFamily="34" charset="-122"/>
                <a:cs typeface="Roboto" pitchFamily="34" charset="-120"/>
              </a:rPr>
              <a:t>Bookmark these!</a:t>
            </a:r>
            <a:endParaRPr lang="en-US" sz="1300" dirty="0"/>
          </a:p>
        </p:txBody>
      </p:sp>
      <p:sp>
        <p:nvSpPr>
          <p:cNvPr id="17" name="Text 15"/>
          <p:cNvSpPr/>
          <p:nvPr/>
        </p:nvSpPr>
        <p:spPr>
          <a:xfrm>
            <a:off x="1346597" y="7245787"/>
            <a:ext cx="11937206" cy="528399"/>
          </a:xfrm>
          <a:prstGeom prst="rect">
            <a:avLst/>
          </a:prstGeom>
          <a:noFill/>
          <a:ln/>
        </p:spPr>
        <p:txBody>
          <a:bodyPr wrap="square" lIns="0" tIns="0" rIns="0" bIns="0" rtlCol="0" anchor="t"/>
          <a:lstStyle/>
          <a:p>
            <a:pPr algn="l" indent="0" marL="0">
              <a:lnSpc>
                <a:spcPts val="2050"/>
              </a:lnSpc>
              <a:buNone/>
            </a:pPr>
            <a:r>
              <a:rPr lang="en-US" sz="1300" dirty="0">
                <a:solidFill>
                  <a:srgbClr val="15213F"/>
                </a:solidFill>
                <a:latin typeface="Roboto" pitchFamily="34" charset="0"/>
                <a:ea typeface="Roboto" pitchFamily="34" charset="-122"/>
                <a:cs typeface="Roboto" pitchFamily="34" charset="-120"/>
              </a:rPr>
              <a:t>Resource reminder. Website has all Day 1 and 2 content, cheat sheets, exercise solutions, golden prompts library. Sandbox remains available at this URL. Bookmark both - you'll reference them constantly. Password unchanged: AmaDema2026. All materials accessible after training ends.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2026-01-18T18:34:03Z</dcterms:created>
  <dcterms:modified xsi:type="dcterms:W3CDTF">2026-01-18T18:34:03Z</dcterms:modified>
</cp:coreProperties>
</file>