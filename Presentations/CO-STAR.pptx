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7" r:id="rId13"/>
    <p:sldId id="328" r:id="rId14"/>
    <p:sldId id="329" r:id="rId15"/>
    <p:sldId id="330" r:id="rId16"/>
    <p:sldId id="331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8" r:id="rId27"/>
    <p:sldId id="280" r:id="rId28"/>
    <p:sldId id="281" r:id="rId29"/>
  </p:sldIdLst>
  <p:sldSz cx="14630400" cy="8229600"/>
  <p:notesSz cx="8229600" cy="14630400"/>
  <p:embeddedFontLs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Slab" pitchFamily="2" charset="0"/>
      <p:regular r:id="rId35"/>
      <p:bold r:id="rId36"/>
    </p:embeddedFont>
    <p:embeddedFont>
      <p:font typeface="Roboto Slab Light" pitchFamily="2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7203CF-3A05-4881-8F08-DE26EC15A7EF}" v="1" dt="2026-01-26T09:04:18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580" autoAdjust="0"/>
  </p:normalViewPr>
  <p:slideViewPr>
    <p:cSldViewPr snapToGrid="0" snapToObjects="1">
      <p:cViewPr varScale="1">
        <p:scale>
          <a:sx n="115" d="100"/>
          <a:sy n="115" d="100"/>
        </p:scale>
        <p:origin x="126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gi Stavrou" userId="dd16d0fc-f2bc-4903-959a-5212f7e12581" providerId="ADAL" clId="{1E03F269-CBA5-46B5-A393-57B181650B55}"/>
    <pc:docChg chg="addSld delSld modSld">
      <pc:chgData name="Avgi Stavrou" userId="dd16d0fc-f2bc-4903-959a-5212f7e12581" providerId="ADAL" clId="{1E03F269-CBA5-46B5-A393-57B181650B55}" dt="2026-01-26T09:04:57.020" v="29" actId="403"/>
      <pc:docMkLst>
        <pc:docMk/>
      </pc:docMkLst>
      <pc:sldChg chg="del">
        <pc:chgData name="Avgi Stavrou" userId="dd16d0fc-f2bc-4903-959a-5212f7e12581" providerId="ADAL" clId="{1E03F269-CBA5-46B5-A393-57B181650B55}" dt="2026-01-26T09:03:50.655" v="18" actId="47"/>
        <pc:sldMkLst>
          <pc:docMk/>
          <pc:sldMk cId="0" sldId="256"/>
        </pc:sldMkLst>
      </pc:sldChg>
      <pc:sldChg chg="del">
        <pc:chgData name="Avgi Stavrou" userId="dd16d0fc-f2bc-4903-959a-5212f7e12581" providerId="ADAL" clId="{1E03F269-CBA5-46B5-A393-57B181650B55}" dt="2026-01-26T09:02:41.875" v="2" actId="47"/>
        <pc:sldMkLst>
          <pc:docMk/>
          <pc:sldMk cId="0" sldId="257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58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59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0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1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2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3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4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5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6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7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8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69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0" sldId="270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636901290" sldId="282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1884811412" sldId="283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2586803530" sldId="284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425217751" sldId="285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2866124540" sldId="286"/>
        </pc:sldMkLst>
      </pc:sldChg>
      <pc:sldChg chg="del">
        <pc:chgData name="Avgi Stavrou" userId="dd16d0fc-f2bc-4903-959a-5212f7e12581" providerId="ADAL" clId="{1E03F269-CBA5-46B5-A393-57B181650B55}" dt="2026-01-26T09:03:04.964" v="14" actId="47"/>
        <pc:sldMkLst>
          <pc:docMk/>
          <pc:sldMk cId="301303695" sldId="287"/>
        </pc:sldMkLst>
      </pc:sldChg>
      <pc:sldChg chg="del">
        <pc:chgData name="Avgi Stavrou" userId="dd16d0fc-f2bc-4903-959a-5212f7e12581" providerId="ADAL" clId="{1E03F269-CBA5-46B5-A393-57B181650B55}" dt="2026-01-26T09:03:03.758" v="13" actId="47"/>
        <pc:sldMkLst>
          <pc:docMk/>
          <pc:sldMk cId="2479963210" sldId="288"/>
        </pc:sldMkLst>
      </pc:sldChg>
      <pc:sldChg chg="del">
        <pc:chgData name="Avgi Stavrou" userId="dd16d0fc-f2bc-4903-959a-5212f7e12581" providerId="ADAL" clId="{1E03F269-CBA5-46B5-A393-57B181650B55}" dt="2026-01-26T09:02:58.307" v="9" actId="47"/>
        <pc:sldMkLst>
          <pc:docMk/>
          <pc:sldMk cId="1609081042" sldId="289"/>
        </pc:sldMkLst>
      </pc:sldChg>
      <pc:sldChg chg="del">
        <pc:chgData name="Avgi Stavrou" userId="dd16d0fc-f2bc-4903-959a-5212f7e12581" providerId="ADAL" clId="{1E03F269-CBA5-46B5-A393-57B181650B55}" dt="2026-01-26T09:02:56.370" v="8" actId="47"/>
        <pc:sldMkLst>
          <pc:docMk/>
          <pc:sldMk cId="2357125419" sldId="290"/>
        </pc:sldMkLst>
      </pc:sldChg>
      <pc:sldChg chg="del">
        <pc:chgData name="Avgi Stavrou" userId="dd16d0fc-f2bc-4903-959a-5212f7e12581" providerId="ADAL" clId="{1E03F269-CBA5-46B5-A393-57B181650B55}" dt="2026-01-26T09:02:55.448" v="7" actId="47"/>
        <pc:sldMkLst>
          <pc:docMk/>
          <pc:sldMk cId="3869325668" sldId="291"/>
        </pc:sldMkLst>
      </pc:sldChg>
      <pc:sldChg chg="del">
        <pc:chgData name="Avgi Stavrou" userId="dd16d0fc-f2bc-4903-959a-5212f7e12581" providerId="ADAL" clId="{1E03F269-CBA5-46B5-A393-57B181650B55}" dt="2026-01-26T09:02:50.569" v="6" actId="47"/>
        <pc:sldMkLst>
          <pc:docMk/>
          <pc:sldMk cId="613726933" sldId="292"/>
        </pc:sldMkLst>
      </pc:sldChg>
      <pc:sldChg chg="del">
        <pc:chgData name="Avgi Stavrou" userId="dd16d0fc-f2bc-4903-959a-5212f7e12581" providerId="ADAL" clId="{1E03F269-CBA5-46B5-A393-57B181650B55}" dt="2026-01-26T09:02:49.296" v="5" actId="47"/>
        <pc:sldMkLst>
          <pc:docMk/>
          <pc:sldMk cId="1018547707" sldId="293"/>
        </pc:sldMkLst>
      </pc:sldChg>
      <pc:sldChg chg="del">
        <pc:chgData name="Avgi Stavrou" userId="dd16d0fc-f2bc-4903-959a-5212f7e12581" providerId="ADAL" clId="{1E03F269-CBA5-46B5-A393-57B181650B55}" dt="2026-01-26T09:02:48.223" v="4" actId="47"/>
        <pc:sldMkLst>
          <pc:docMk/>
          <pc:sldMk cId="2812204837" sldId="294"/>
        </pc:sldMkLst>
      </pc:sldChg>
      <pc:sldChg chg="del">
        <pc:chgData name="Avgi Stavrou" userId="dd16d0fc-f2bc-4903-959a-5212f7e12581" providerId="ADAL" clId="{1E03F269-CBA5-46B5-A393-57B181650B55}" dt="2026-01-26T09:02:47.295" v="3" actId="47"/>
        <pc:sldMkLst>
          <pc:docMk/>
          <pc:sldMk cId="914594461" sldId="295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2713466214" sldId="296"/>
        </pc:sldMkLst>
      </pc:sldChg>
      <pc:sldChg chg="del">
        <pc:chgData name="Avgi Stavrou" userId="dd16d0fc-f2bc-4903-959a-5212f7e12581" providerId="ADAL" clId="{1E03F269-CBA5-46B5-A393-57B181650B55}" dt="2026-01-26T09:03:26.456" v="16" actId="47"/>
        <pc:sldMkLst>
          <pc:docMk/>
          <pc:sldMk cId="3909566267" sldId="297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1485832492" sldId="299"/>
        </pc:sldMkLst>
      </pc:sldChg>
      <pc:sldChg chg="del">
        <pc:chgData name="Avgi Stavrou" userId="dd16d0fc-f2bc-4903-959a-5212f7e12581" providerId="ADAL" clId="{1E03F269-CBA5-46B5-A393-57B181650B55}" dt="2026-01-26T09:03:09.024" v="15" actId="47"/>
        <pc:sldMkLst>
          <pc:docMk/>
          <pc:sldMk cId="116169228" sldId="300"/>
        </pc:sldMkLst>
      </pc:sldChg>
      <pc:sldChg chg="del">
        <pc:chgData name="Avgi Stavrou" userId="dd16d0fc-f2bc-4903-959a-5212f7e12581" providerId="ADAL" clId="{1E03F269-CBA5-46B5-A393-57B181650B55}" dt="2026-01-26T09:03:02.264" v="12" actId="47"/>
        <pc:sldMkLst>
          <pc:docMk/>
          <pc:sldMk cId="1912137195" sldId="301"/>
        </pc:sldMkLst>
      </pc:sldChg>
      <pc:sldChg chg="del">
        <pc:chgData name="Avgi Stavrou" userId="dd16d0fc-f2bc-4903-959a-5212f7e12581" providerId="ADAL" clId="{1E03F269-CBA5-46B5-A393-57B181650B55}" dt="2026-01-26T09:03:01.318" v="11" actId="47"/>
        <pc:sldMkLst>
          <pc:docMk/>
          <pc:sldMk cId="2252690400" sldId="302"/>
        </pc:sldMkLst>
      </pc:sldChg>
      <pc:sldChg chg="del">
        <pc:chgData name="Avgi Stavrou" userId="dd16d0fc-f2bc-4903-959a-5212f7e12581" providerId="ADAL" clId="{1E03F269-CBA5-46B5-A393-57B181650B55}" dt="2026-01-26T09:03:00.332" v="10" actId="47"/>
        <pc:sldMkLst>
          <pc:docMk/>
          <pc:sldMk cId="1697920183" sldId="311"/>
        </pc:sldMkLst>
      </pc:sldChg>
      <pc:sldChg chg="modSp add mod">
        <pc:chgData name="Avgi Stavrou" userId="dd16d0fc-f2bc-4903-959a-5212f7e12581" providerId="ADAL" clId="{1E03F269-CBA5-46B5-A393-57B181650B55}" dt="2026-01-26T09:04:57.020" v="29" actId="403"/>
        <pc:sldMkLst>
          <pc:docMk/>
          <pc:sldMk cId="2975912142" sldId="312"/>
        </pc:sldMkLst>
        <pc:spChg chg="mod">
          <ac:chgData name="Avgi Stavrou" userId="dd16d0fc-f2bc-4903-959a-5212f7e12581" providerId="ADAL" clId="{1E03F269-CBA5-46B5-A393-57B181650B55}" dt="2026-01-26T09:04:57.020" v="29" actId="403"/>
          <ac:spMkLst>
            <pc:docMk/>
            <pc:sldMk cId="2975912142" sldId="312"/>
            <ac:spMk id="4" creationId="{00000000-0000-0000-0000-000000000000}"/>
          </ac:spMkLst>
        </pc:spChg>
      </pc:sldChg>
      <pc:sldChg chg="add mod modShow">
        <pc:chgData name="Avgi Stavrou" userId="dd16d0fc-f2bc-4903-959a-5212f7e12581" providerId="ADAL" clId="{1E03F269-CBA5-46B5-A393-57B181650B55}" dt="2026-01-26T09:04:00.673" v="19" actId="729"/>
        <pc:sldMkLst>
          <pc:docMk/>
          <pc:sldMk cId="1973258513" sldId="313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1070927650" sldId="314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3663892591" sldId="315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1652975952" sldId="316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3005966587" sldId="317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1615261950" sldId="318"/>
        </pc:sldMkLst>
      </pc:sldChg>
      <pc:sldChg chg="addSp modSp add mod">
        <pc:chgData name="Avgi Stavrou" userId="dd16d0fc-f2bc-4903-959a-5212f7e12581" providerId="ADAL" clId="{1E03F269-CBA5-46B5-A393-57B181650B55}" dt="2026-01-26T09:04:46.936" v="27" actId="404"/>
        <pc:sldMkLst>
          <pc:docMk/>
          <pc:sldMk cId="2460267830" sldId="319"/>
        </pc:sldMkLst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4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6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7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8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9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11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12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14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19" creationId="{00000000-0000-0000-0000-000000000000}"/>
          </ac:spMkLst>
        </pc:spChg>
        <pc:spChg chg="mod">
          <ac:chgData name="Avgi Stavrou" userId="dd16d0fc-f2bc-4903-959a-5212f7e12581" providerId="ADAL" clId="{1E03F269-CBA5-46B5-A393-57B181650B55}" dt="2026-01-26T09:04:46.936" v="27" actId="404"/>
          <ac:spMkLst>
            <pc:docMk/>
            <pc:sldMk cId="2460267830" sldId="319"/>
            <ac:spMk id="23" creationId="{00000000-0000-0000-0000-000000000000}"/>
          </ac:spMkLst>
        </pc:spChg>
        <pc:grpChg chg="mod">
          <ac:chgData name="Avgi Stavrou" userId="dd16d0fc-f2bc-4903-959a-5212f7e12581" providerId="ADAL" clId="{1E03F269-CBA5-46B5-A393-57B181650B55}" dt="2026-01-26T09:04:26.328" v="24" actId="14100"/>
          <ac:grpSpMkLst>
            <pc:docMk/>
            <pc:sldMk cId="2460267830" sldId="319"/>
            <ac:grpSpMk id="27" creationId="{3FD9FA44-F945-7695-F64D-632CD459850E}"/>
          </ac:grpSpMkLst>
        </pc:grpChg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276883410" sldId="320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2503205656" sldId="321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1446815684" sldId="322"/>
        </pc:sldMkLst>
      </pc:sldChg>
      <pc:sldChg chg="add del">
        <pc:chgData name="Avgi Stavrou" userId="dd16d0fc-f2bc-4903-959a-5212f7e12581" providerId="ADAL" clId="{1E03F269-CBA5-46B5-A393-57B181650B55}" dt="2026-01-26T09:03:46.319" v="17" actId="47"/>
        <pc:sldMkLst>
          <pc:docMk/>
          <pc:sldMk cId="3001175330" sldId="323"/>
        </pc:sldMkLst>
      </pc:sldChg>
      <pc:sldChg chg="add del">
        <pc:chgData name="Avgi Stavrou" userId="dd16d0fc-f2bc-4903-959a-5212f7e12581" providerId="ADAL" clId="{1E03F269-CBA5-46B5-A393-57B181650B55}" dt="2026-01-26T09:03:46.319" v="17" actId="47"/>
        <pc:sldMkLst>
          <pc:docMk/>
          <pc:sldMk cId="3920131305" sldId="324"/>
        </pc:sldMkLst>
      </pc:sldChg>
      <pc:sldChg chg="add del">
        <pc:chgData name="Avgi Stavrou" userId="dd16d0fc-f2bc-4903-959a-5212f7e12581" providerId="ADAL" clId="{1E03F269-CBA5-46B5-A393-57B181650B55}" dt="2026-01-26T09:03:46.319" v="17" actId="47"/>
        <pc:sldMkLst>
          <pc:docMk/>
          <pc:sldMk cId="1421752170" sldId="325"/>
        </pc:sldMkLst>
      </pc:sldChg>
      <pc:sldChg chg="add del">
        <pc:chgData name="Avgi Stavrou" userId="dd16d0fc-f2bc-4903-959a-5212f7e12581" providerId="ADAL" clId="{1E03F269-CBA5-46B5-A393-57B181650B55}" dt="2026-01-26T09:03:46.319" v="17" actId="47"/>
        <pc:sldMkLst>
          <pc:docMk/>
          <pc:sldMk cId="2275713913" sldId="326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585496677" sldId="327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3683271088" sldId="328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4065750188" sldId="329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1399914270" sldId="330"/>
        </pc:sldMkLst>
      </pc:sldChg>
      <pc:sldChg chg="add">
        <pc:chgData name="Avgi Stavrou" userId="dd16d0fc-f2bc-4903-959a-5212f7e12581" providerId="ADAL" clId="{1E03F269-CBA5-46B5-A393-57B181650B55}" dt="2026-01-26T09:02:29.524" v="1"/>
        <pc:sldMkLst>
          <pc:docMk/>
          <pc:sldMk cId="3794671820" sldId="331"/>
        </pc:sldMkLst>
      </pc:sldChg>
      <pc:sldMasterChg chg="addSldLayout">
        <pc:chgData name="Avgi Stavrou" userId="dd16d0fc-f2bc-4903-959a-5212f7e12581" providerId="ADAL" clId="{1E03F269-CBA5-46B5-A393-57B181650B55}" dt="2026-01-26T09:02:29.524" v="0" actId="27028"/>
        <pc:sldMasterMkLst>
          <pc:docMk/>
          <pc:sldMasterMk cId="0" sldId="2147483648"/>
        </pc:sldMasterMkLst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1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2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3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4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5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6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7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8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79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0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1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2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3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4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5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6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7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8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89"/>
          </pc:sldLayoutMkLst>
        </pc:sldLayoutChg>
        <pc:sldLayoutChg chg="add">
          <pc:chgData name="Avgi Stavrou" userId="dd16d0fc-f2bc-4903-959a-5212f7e12581" providerId="ADAL" clId="{1E03F269-CBA5-46B5-A393-57B181650B55}" dt="2026-01-26T09:02:29.524" v="0" actId="27028"/>
          <pc:sldLayoutMkLst>
            <pc:docMk/>
            <pc:sldMasterMk cId="0" sldId="2147483648"/>
            <pc:sldLayoutMk cId="0" sldId="214748369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37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Part 2: CO-STAR framework. Yesterday was AUTOMAT for functional tasks. Today is CO-STAR for strategic communication - reports, summaries, pitches. When context matters more than strict structure. When audience perspective changes everything.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When to use which? AUTOMAT: functional tasks where output format matters most. Data extraction, protocol formatting - clear transformation. CO-STAR: strategic content where audience and context matter. Reports for investors vs engineers need different approaches - that's CO-STAR territory. Think: Is audience perspective critical? If yes, CO-STAR.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**Quick Check:** "I'll name a task. Call out which framework! Ready? Task 1: Literature review for journal introduction..." (5 quick-fire examples)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CO-STAR: six components for strategic communication. Context provides background and situation. Objective defines what success looks like. Style sets writing approach - academic? Journalistic? Technical? Tone sets emotional quality - confident? Cautious? Formal? Audience defines who reads this and their needs. Response specifies exact format and structure. Together, these eliminate ambiguity for narrative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Context component - rich background. Not just "write about our materials" but WHY (funding round), WHO (ESG-focused investors), WHAT'S AVAILABLE (strong technical data), WHAT'S MISSING (narrative). This context shapes everything - writing style, technical depth, emphasis. Without it, AI writes generic content.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Objective must be specific. Not "write about materials" but "create compelling narrative positioning ceramics as sustainable alternative, emphasizing 40% carbon reduction." See the difference? Vague objective gets generic writing. Specific objective defines success criteria. What should reader think/feel/do after reading?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**Think-Pair-Share:** "Turn to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neighbor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Take this vague objective: 'Help with grant proposal.' Make it specific." (2 minutes, then share examples)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Style and Tone together create voice. Style is writing approach - academic formality vs journalistic storytelling. Tone is emotional quality - confident vs cautious. Different combinations for different needs. Investor pitch: journalistic style, confident tone. Safety protocol: technical style, cautious tone. These aren't optional - they're strategic choices.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Audience and Response complete the framework. Audience defines who reads this and their needs - technical background, priorities,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skepticism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Response specifies exact structure - not just "write a summary" but "2-page summary with these specific sections in this order." Together they ensure output matches audience needs perfectly.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Live demo time! Real scenario: R&amp;D Director wants to understand business case for lab AI adoption. I'll build complete CO-STAR prompt live, covering all six components. Then we'll execute and assess quality. Watch how each component shapes the output. [Execute live: Build prompt explaining each component as you add it, then show result and assess whether it meets all criteria]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**Live Demo (7 min):**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Explain scenario (1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Build CO-STAR prompt live, component by component (3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Execute in sandbox (1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Review output quality together (2 min)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Highlight which components shaped which output elements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[C] Context: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AmaDema's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R&amp;D team (12 scientists) currently spends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time on literature reviews, data analysis, and report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writing. We're evaluating AI tool adoption following this training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programme. R&amp;D Director is scientifically-minded but cautious about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technologies. She's concerned about accuracy and reliability,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security (we have proprietary synthesis methods), staff training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investment, and whether productivity gains justify costs. Two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members are enthusiastic, but others are sceptical. Decision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needed within 2 weeks for budget planning.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[O] Objective: Persuade R&amp;D Director to approve AI tool adoption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directly addressing her four concerns whilst building confidence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technology. Goal is approval to proceed with pilot programme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 months, 5 users) rather than wholesale rejection or indefinite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"we'll think about it."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[S] Style: Professional scientific memo. Evidence-based arguments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quantitative data where possible. Acknowledge risks honestly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overselling. Think "credible colleague recommendation"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"sales pitch." Use clear structure with bullet points for 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scannability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[T] Tone: Confident but measured. Respectful of concerns (they're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legitimate). Optimistic about benefits but realistic about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limitations. "Informed recommendation" tone rather than "breathless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enthusiasm" or "fearful caution."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[A] Audience: R&amp;D Director with PhD in materials science, 15 years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industry experience. Values evidence over hype. Responsible for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productivity and budget. Familiar with AI in popular media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limited hands-on experience. Will fact-check claims and consult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team. Priorities: protecting IP, maintaining research quality,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efficiency, budget justification.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[R] Response: 1-page memo (approximately 600 words) with structure: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Opening: Brief context and recommendation (1 paragraph)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1: Benefits - Quantified productivity gains (1 paragraph)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2: Addressing Concerns - Directly tackle each of 4 concerns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evidence-based responses (4 short paragraphs or bullet sections)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3: Proposed Pilot - 3-month trial with clear success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 (1 paragraph)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Closing: Call to action - meeting request (1 sentence)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bold for key metrics. Professional memo formatting.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**Expected Output:** Persuasive memo that addresses all concerns, provides evidence, proposes concrete pilot, appropriate for scientifically-minded decision-maker.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**Speaker Notes:**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Live demo time! Real scenario from your world: R&amp;D Director considering AI adoption, has four concerns. I'll build complete CO-STAR prompt live. Watch how each component shapes output. [C] Context - situation and concerns [type whilst explaining]. [O] Objective - not just "explain AI" but persuade toward specific decision [type]. [S] Style - professional scientific memo, evidence-based [type]. [T] Tone - confident but measured, respectful of concerns [type]. [A] Audience - PhD scientist, values evidence, responsible for budget [type]. [R] Response - exact structure, section by section [type]. Now execute [run in sandbox]. Let's assess: Does it address all four concerns? Is tone appropriate? Would this persuade you if you were the Director? [Discuss output quality, highlight how each CO-STAR component shaped specific output elements]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**Live Demo (7 min):**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Explain scenario - R&amp;D Director's concerns (1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Build CO-STAR prompt live, explaining each component as you type (3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Execute in sandbox (30 sec)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Review output quality together (2.5 min):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   - Does it address all 4 concerns?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   - Is tone appropriate for scientific audience?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   - Would this persuade a sceptical Director?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5. Highlight how specific CO-STAR components shaped output (e.g., Tone → respectful acknowledgement of concerns; Audience → evidence-based rather than hype)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Big group activity! Groups of 3-4. You'll build a complete CO-STAR prompt for a management memo about green AI practices. Assign roles now: facilitator, note-taker, presenter, quality checker. Spend first 5 minutes discussing what each component should say, then 7 minutes writing it. One group will test their prompt in sandbox. Fifteen minutes starting... now!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**Small Group Work (15 min):**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Form groups, assign roles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Circulate to guide discussions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Listen for good examples to highlight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Give 5-min and 2-min warnings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Select one group to test in sandbox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 group activity! Groups of 3-4. You'll build a complete CO-STAR prompt for a management memo about green AI practices. Assign roles now: facilitator, note-taker, presenter, quality checker. Spend first 5 minutes discussing what each component should say, then 7 minutes writing it. One group will test their prompt in sandbox. Fifteen minutes starting... now!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**GUIDANCE FOR GROUPS:**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**Context component should include:**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Current AI usage in R&amp;D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Management's sustainability priorities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Why this matters now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**Objective should be:**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Specific goal (approval? pilot programme? budget allocation?)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What decision you want management to make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**Style considerations:**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Mixed audience (technical and business)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Need to balance technical credibility with business language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**Tone considerations:**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Opportunity framing vs problem framing?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Urgent vs informational?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**Audience considerations:**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CEO, CTO, CFO have different priorities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What does each care about?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**Response format:**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What structure would work for busy executives?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How to make it scannable?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**Speaker Notes:**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Big group activity! Groups of 3-4, form now. Here's your scenario [display on screen]: Write memo to management about green AI practices. Assign roles: facilitator keeps discussion on track, note-taker writes the prompt, presenter will share if selected, quality checker ensures all 6 CO-STAR components are covered. First 5 minutes: discuss what each component should contain. Next 7 minutes: write the complete prompt together. Final 3 minutes: one group will test theirs in sandbox. Fifteen minutes starting... now! [Circulate between groups, listen for creative approaches, give time warnings at 10 min and 13 min, select one group for presentation based on interesting approach you observe]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**Small Group Work (15 min):**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Form groups (3-4 people), assign roles (1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Groups discuss component by component (5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Groups write complete CO-STAR prompt (7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Circulate to guide discussions, listen for good examples to highlight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Give warnings at 10 min ("5 minutes left") and 13 min ("2 minutes")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While circulating, mentally select one group with interesting approach for presentation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Prepare to transition to presentation slide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46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[Selected group name], come present your prompt! Read it aloud so everyone hears all six components. Then we'll test it live. [Execute in sandbox]. Let's assess together - did components work? Is this appropriate for management? Would it persuade? [Facilitate discussion, then ask 1-2 other groups to share key differences in their approach. Highlight creative solutions.]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**Interactive Element:**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**Group Presentation &amp; Testing (8 min):**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One group presents their CO-STAR prompt (2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Execute in sandbox live (2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Group assessment discussion (3 min)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- 1-2 other groups share their approach briefly (1 min)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[Selected group name], come present your prompt! Read it aloud so everyone hears all six components. Then we'll test it live. [Execute in sandbox]. Let's assess together - did components work? Is this appropriate for management? Would it persuade? [Facilitate discussion, then ask 1-2 other groups to share key differences in their approach. Highlight creative solutions.]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ere are three CO-STAR templates for common materials science scenarios. Journal introduction, patent analysis, investor pitch. Each shows all six components. These are starting points - customize for your specific needs. Save these as templates for recurring tasks. Notice how audience changes everything - journal reviewers vs investors need completely different approaches.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49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50" r:id="rId23"/>
    <p:sldLayoutId id="2147483651" r:id="rId24"/>
    <p:sldLayoutId id="2147483652" r:id="rId25"/>
    <p:sldLayoutId id="2147483653" r:id="rId26"/>
    <p:sldLayoutId id="2147483654" r:id="rId27"/>
    <p:sldLayoutId id="2147483655" r:id="rId28"/>
    <p:sldLayoutId id="2147483656" r:id="rId29"/>
    <p:sldLayoutId id="2147483657" r:id="rId30"/>
    <p:sldLayoutId id="2147483658" r:id="rId31"/>
    <p:sldLayoutId id="2147483659" r:id="rId32"/>
    <p:sldLayoutId id="2147483660" r:id="rId33"/>
    <p:sldLayoutId id="2147483661" r:id="rId34"/>
    <p:sldLayoutId id="2147483662" r:id="rId35"/>
    <p:sldLayoutId id="2147483663" r:id="rId36"/>
    <p:sldLayoutId id="2147483664" r:id="rId37"/>
    <p:sldLayoutId id="2147483665" r:id="rId38"/>
    <p:sldLayoutId id="2147483666" r:id="rId39"/>
    <p:sldLayoutId id="2147483667" r:id="rId40"/>
    <p:sldLayoutId id="2147483668" r:id="rId41"/>
    <p:sldLayoutId id="2147483669" r:id="rId4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7456"/>
            <a:ext cx="73737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Day 4: Mastery &amp; Responsibility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75190"/>
            <a:ext cx="75564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Mastering Optimization, Ethics, and Data Security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591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75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Quick Check-In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5444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we dive into today's advanced topics, let's reconnect with our recent progress and ground ourselves in what we've accomplished so far.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92880"/>
            <a:ext cx="4215289" cy="2099191"/>
          </a:xfrm>
          <a:prstGeom prst="roundRect">
            <a:avLst>
              <a:gd name="adj" fmla="val 5227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70020"/>
            <a:ext cx="4215289" cy="91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778" y="3695224"/>
            <a:ext cx="595313" cy="595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82372" y="384405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015008" y="4489013"/>
            <a:ext cx="27147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Local Sandbox Success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15008" y="4918234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Have you successfully deployed and tested the Local Sandbox environment on your machine?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207437" y="3992880"/>
            <a:ext cx="4215408" cy="2099191"/>
          </a:xfrm>
          <a:prstGeom prst="roundRect">
            <a:avLst>
              <a:gd name="adj" fmla="val 5227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437" y="3970020"/>
            <a:ext cx="4215408" cy="9144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25" y="3695224"/>
            <a:ext cx="595313" cy="5953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6018" y="384405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428655" y="4489013"/>
            <a:ext cx="27796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Hallucination Detection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5428655" y="4918234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you identify any instances of AI hallucination in your work this week? What strategies helped you spot them?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9621203" y="3992880"/>
            <a:ext cx="4215289" cy="2099191"/>
          </a:xfrm>
          <a:prstGeom prst="roundRect">
            <a:avLst>
              <a:gd name="adj" fmla="val 5227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3970020"/>
            <a:ext cx="4215289" cy="9144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1191" y="3695224"/>
            <a:ext cx="595313" cy="5953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09784" y="384405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9842421" y="4489013"/>
            <a:ext cx="264473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Semantic Space Recall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9842421" y="4918234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one concept you remember about semantic space and how embeddings represent meaning?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97325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060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Day 3 Recap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575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refresh our understanding of the foundational concepts we explored yesterday. These building blocks are essential for today's advanced techniques.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014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NLMs vs LLMs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522708"/>
            <a:ext cx="402431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distinguished between Natural Language Models and Large Language Models, understanding that size isn't everything—smaller specialized models often outperform general-purpose giants for specific tasks.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09830" y="4014192"/>
            <a:ext cx="260663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Embeddings &amp; Tokens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309830" y="4522708"/>
            <a:ext cx="402431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explored how language transforms into mathematical coordinates in semantic space, where words and concepts exist as vectors that capture meaning through their relationships.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25871" y="4014192"/>
            <a:ext cx="29514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Hallucination Prevention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5871" y="4522708"/>
            <a:ext cx="402431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learned critical techniques including Retrieval-Augmented Generation (RAG), temperature control, and systematic verification to ensure AI outputs remain grounded in truth.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07092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72947"/>
            <a:ext cx="1769150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1819751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1732478"/>
            <a:ext cx="12930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125385"/>
            <a:ext cx="60539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Day 4 Learning Objectives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304311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we advance from fundamentals to mastery. These objectives represent the professional competencies that separate AI users from AI practitioners.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9014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15765"/>
            <a:ext cx="4215289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790" y="4360664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Green AI practices to reduce environmental impact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207437" y="39014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437" y="4215765"/>
            <a:ext cx="4215408" cy="22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07437" y="4360664"/>
            <a:ext cx="42154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Master optimization techniques for efficient model usage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21203" y="39014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203" y="4215765"/>
            <a:ext cx="4215289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21203" y="4360664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deep expertise using the Why Cascade methodology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793790" y="53281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22727"/>
            <a:ext cx="6422112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5787390"/>
            <a:ext cx="57115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Recognize and actively mitigate algorithmic bias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7414260" y="53281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260" y="5622727"/>
            <a:ext cx="6422231" cy="228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14260" y="5787390"/>
            <a:ext cx="64222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AmaDema privacy protocols in production contexts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66389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20465"/>
            <a:ext cx="61902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Efficiency &amp; Sustainability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63819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intelligence delivers transformative capabilities, but these benefits come with real environmental costs. Every query, every training run, every inference consumes electricity—often generated from non-renewable sources.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496520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AI practitioners, we carry a professional responsibility that extends beyond technical excellence. </a:t>
            </a:r>
            <a:r>
              <a:rPr lang="en-US" sz="1550" dirty="0">
                <a:solidFill>
                  <a:srgbClr val="FFFFFF"/>
                </a:solidFill>
                <a:highlight>
                  <a:srgbClr val="3257B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Efficiency isn't just an optimization goal—it's an ethical imperative.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choices we make about model selection, prompt engineering, and query patterns directly impact our collective environmental footprint.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667238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these costs transforms us from passive users into conscious practitioners who balance capability with responsibility.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65297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5218"/>
            <a:ext cx="738020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Hidden Environmental Costs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80190" y="1652945"/>
            <a:ext cx="75564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Behind every AI interaction lies an infrastructure most users never see. These hidden costs accumulate across billions of queries worldwide.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80190" y="2442805"/>
            <a:ext cx="7556421" cy="2406253"/>
          </a:xfrm>
          <a:prstGeom prst="roundRect">
            <a:avLst>
              <a:gd name="adj" fmla="val 117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666" y="2631281"/>
            <a:ext cx="565547" cy="56554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161" y="2786777"/>
            <a:ext cx="254437" cy="2544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8666" y="337589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Water Consumption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468666" y="3777972"/>
            <a:ext cx="717946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centers require massive cooling systems that consume millions of gallons of water annually. Training a single large language model can use as much water as it takes to produce 370 BMW cars.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6280190" y="5028128"/>
            <a:ext cx="7556421" cy="2406253"/>
          </a:xfrm>
          <a:prstGeom prst="roundRect">
            <a:avLst>
              <a:gd name="adj" fmla="val 117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8666" y="5216604"/>
            <a:ext cx="565547" cy="565547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4161" y="5372100"/>
            <a:ext cx="254437" cy="25443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68666" y="5961221"/>
            <a:ext cx="311991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Carbon Footprint Variability</a:t>
            </a:r>
            <a:endParaRPr lang="en-US" sz="1850" dirty="0"/>
          </a:p>
        </p:txBody>
      </p:sp>
      <p:sp>
        <p:nvSpPr>
          <p:cNvPr id="14" name="Text 7"/>
          <p:cNvSpPr/>
          <p:nvPr/>
        </p:nvSpPr>
        <p:spPr>
          <a:xfrm>
            <a:off x="6468666" y="6363295"/>
            <a:ext cx="717946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 location dramatically impacts emissions. The same computation in a coal-powered data center produces 10x more CO₂ than in a facility powered by renewable energy.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0596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469"/>
            <a:ext cx="55180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Efficiency Matters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2438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industry stands at an inflection point. Current growth trajectories suggest energy consumption will increase dramatically—unless we change our practices.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303770" y="2582704"/>
            <a:ext cx="22860" cy="3872984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19505" y="2794516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91958" y="258270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66372" y="261991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842028" y="26509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Size Impact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3080147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 requires approximately 50x more computational resources than GPT-3. Each parameter increase compounds energy requirements exponentially.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15582" y="3985141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91958" y="377332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66372" y="381053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307467" y="38415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Usage Frequency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07467" y="4270772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AI becomes ubiquitous, billions of daily queries multiply the per-interaction costs. More users and higher frequency create unprecedented energy demands.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19505" y="5011460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91958" y="4799648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66372" y="483685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842028" y="48678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Projected Growth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5297091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analysts predict a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50x increase in AI energy consumption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2027 if current trends continue without efficiency interventions.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6678930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974205"/>
            <a:ext cx="248007" cy="19835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38513" y="692681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good news: Individual practitioners can make a measurable difference through conscious optimization choices.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61526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FD9FA44-F945-7695-F64D-632CD459850E}"/>
              </a:ext>
            </a:extLst>
          </p:cNvPr>
          <p:cNvGrpSpPr/>
          <p:nvPr/>
        </p:nvGrpSpPr>
        <p:grpSpPr>
          <a:xfrm>
            <a:off x="332509" y="149629"/>
            <a:ext cx="13508387" cy="7534902"/>
            <a:chOff x="789503" y="544949"/>
            <a:chExt cx="13051393" cy="7139582"/>
          </a:xfrm>
        </p:grpSpPr>
        <p:sp>
          <p:nvSpPr>
            <p:cNvPr id="2" name="Shape 0"/>
            <p:cNvSpPr/>
            <p:nvPr/>
          </p:nvSpPr>
          <p:spPr>
            <a:xfrm>
              <a:off x="789503" y="544949"/>
              <a:ext cx="1039297" cy="322421"/>
            </a:xfrm>
            <a:prstGeom prst="roundRect">
              <a:avLst>
                <a:gd name="adj" fmla="val 6611"/>
              </a:avLst>
            </a:prstGeom>
            <a:solidFill>
              <a:srgbClr val="D7DFF4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6064" y="635079"/>
              <a:ext cx="142042" cy="14204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109067" y="598170"/>
              <a:ext cx="613172" cy="215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GREEN AI</a:t>
              </a:r>
              <a:endParaRPr lang="en-US" sz="14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789503" y="931307"/>
              <a:ext cx="4440912" cy="5550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350"/>
                </a:lnSpc>
                <a:buNone/>
              </a:pPr>
              <a:r>
                <a:rPr lang="en-US" sz="4000" dirty="0">
                  <a:solidFill>
                    <a:srgbClr val="3257B8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Green AI Principles</a:t>
              </a:r>
              <a:endParaRPr lang="en-US" sz="40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89503" y="1726168"/>
              <a:ext cx="13051393" cy="539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These four principles form the foundation of environmentally responsible AI practice. Master them to dramatically reduce your computational footprint without sacrificing capability.</a:t>
              </a:r>
              <a:endParaRPr lang="en-US" sz="16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789503" y="2445782"/>
              <a:ext cx="13051393" cy="1065728"/>
            </a:xfrm>
            <a:prstGeom prst="roundRect">
              <a:avLst>
                <a:gd name="adj" fmla="val 2500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" name="Shape 5"/>
            <p:cNvSpPr/>
            <p:nvPr/>
          </p:nvSpPr>
          <p:spPr>
            <a:xfrm>
              <a:off x="812363" y="2468642"/>
              <a:ext cx="710446" cy="1020008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" name="Text 6"/>
            <p:cNvSpPr/>
            <p:nvPr/>
          </p:nvSpPr>
          <p:spPr>
            <a:xfrm>
              <a:off x="1034415" y="2812137"/>
              <a:ext cx="266343" cy="3330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1</a:t>
              </a:r>
              <a:endParaRPr lang="en-US" sz="2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682591" y="2646164"/>
              <a:ext cx="2220397" cy="277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One-Shot Prompting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682591" y="3019544"/>
              <a:ext cx="11957923" cy="2699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Engineer prompts that work on the first attempt. Every retry multiplies energy costs. Invest time in prompt design </a:t>
              </a:r>
            </a:p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 eliminate wasteful iterations.</a:t>
              </a:r>
              <a:endParaRPr lang="en-US" sz="16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789503" y="3671292"/>
              <a:ext cx="13051393" cy="1313974"/>
            </a:xfrm>
            <a:prstGeom prst="roundRect">
              <a:avLst>
                <a:gd name="adj" fmla="val 2028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Shape 10"/>
            <p:cNvSpPr/>
            <p:nvPr/>
          </p:nvSpPr>
          <p:spPr>
            <a:xfrm>
              <a:off x="812363" y="3694152"/>
              <a:ext cx="710446" cy="1268254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Text 11"/>
            <p:cNvSpPr/>
            <p:nvPr/>
          </p:nvSpPr>
          <p:spPr>
            <a:xfrm>
              <a:off x="1034415" y="4161711"/>
              <a:ext cx="266343" cy="3330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2</a:t>
              </a:r>
              <a:endParaRPr lang="en-US" sz="2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682591" y="3871674"/>
              <a:ext cx="2220397" cy="277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Right-Size the Model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682591" y="4245054"/>
              <a:ext cx="11957923" cy="539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Don't use GPT-4 for tasks that GPT-3.5 handles well. Smaller models consume less energy and often respond faster. Match model capacity to task complexity.</a:t>
              </a:r>
              <a:endParaRPr lang="en-US" sz="16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789503" y="5145048"/>
              <a:ext cx="13051393" cy="1313974"/>
            </a:xfrm>
            <a:prstGeom prst="roundRect">
              <a:avLst>
                <a:gd name="adj" fmla="val 2028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Shape 15"/>
            <p:cNvSpPr/>
            <p:nvPr/>
          </p:nvSpPr>
          <p:spPr>
            <a:xfrm>
              <a:off x="812363" y="5167908"/>
              <a:ext cx="710446" cy="1268254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16"/>
            <p:cNvSpPr/>
            <p:nvPr/>
          </p:nvSpPr>
          <p:spPr>
            <a:xfrm>
              <a:off x="1034415" y="5635466"/>
              <a:ext cx="266343" cy="3330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3</a:t>
              </a:r>
              <a:endParaRPr lang="en-US" sz="2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1682591" y="5345430"/>
              <a:ext cx="2589609" cy="277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Batch and Cache Queries</a:t>
              </a:r>
              <a:endParaRPr lang="en-US" sz="20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682591" y="5718810"/>
              <a:ext cx="11957923" cy="539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Combine similar requests into single prompts. Cache frequently requested information. Reduce redundant API calls that waste computational resources.</a:t>
              </a:r>
              <a:endParaRPr lang="en-US" sz="16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789503" y="6618803"/>
              <a:ext cx="13051393" cy="1065728"/>
            </a:xfrm>
            <a:prstGeom prst="roundRect">
              <a:avLst>
                <a:gd name="adj" fmla="val 2500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Shape 20"/>
            <p:cNvSpPr/>
            <p:nvPr/>
          </p:nvSpPr>
          <p:spPr>
            <a:xfrm>
              <a:off x="812363" y="6641663"/>
              <a:ext cx="710446" cy="1020008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21"/>
            <p:cNvSpPr/>
            <p:nvPr/>
          </p:nvSpPr>
          <p:spPr>
            <a:xfrm>
              <a:off x="1034415" y="6985159"/>
              <a:ext cx="266343" cy="3330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4</a:t>
              </a:r>
              <a:endParaRPr lang="en-US" sz="2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1682591" y="6819186"/>
              <a:ext cx="2380893" cy="277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Value vs Cost Analysis</a:t>
              </a:r>
              <a:endParaRPr lang="en-US" sz="20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682591" y="7192566"/>
              <a:ext cx="11957923" cy="2699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Always evaluate whether the insight justifies the environmental cost. Not every question requires AI—sometimes traditional methods suffice.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6026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643"/>
            <a:ext cx="4886087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One-Shot Principle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641277"/>
            <a:ext cx="1304282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Trial-and-error prompting wastes energy, time, and money. Professional AI practitioners engineer prompts that succeed on the first attempt.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54329"/>
            <a:ext cx="285166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 with Iteration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694027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failed prompt attempt: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110151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Consumes computational 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3437811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carbon emissions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3765471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Costs API 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4093131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 results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790" y="4525328"/>
            <a:ext cx="2369225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One-Shot Solution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65025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structured prompt templates that include: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3790" y="5381149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role definitions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3790" y="5708809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 output formats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3790" y="6036469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Example-driven instructions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3790" y="6364129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 specifications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3790" y="6780252"/>
            <a:ext cx="765131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highlight>
                  <a:srgbClr val="3257B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Investing five minutes in prompt engineering saves hours of iteration and prevents unnecessary energy consumption.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492" y="2274451"/>
            <a:ext cx="4459962" cy="445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91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Context Pruning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560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token in your prompt consumes computational resources. Context pruning removes unnecessary information while preserving task-critical details.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3520440"/>
            <a:ext cx="297656" cy="297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632" y="3514368"/>
            <a:ext cx="353734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Remove Irrelevant Background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4253746"/>
            <a:ext cx="353734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history and tangential information bloat prompts without improving outputs. Strip context to essential facts only.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3520440"/>
            <a:ext cx="297656" cy="297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68829" y="3514368"/>
            <a:ext cx="35146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Provide Task-Specific Context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868829" y="3943588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only information that directly informs the requested task. If details don't change the output, they shouldn't be in the prompt.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8716" y="3520440"/>
            <a:ext cx="297656" cy="2976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99144" y="3514368"/>
            <a:ext cx="25212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 Cost and Risk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299144" y="3943588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Smaller prompts mean lower API costs, faster processing, and reduced exposure of intellectual property to external systems.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93790" y="5747147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6042422"/>
            <a:ext cx="248007" cy="198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8513" y="5995035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 of thumb: If you removed a sentence and the output quality stayed the same, that sentence was wasting tokens.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50320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2847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Query Batching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752481"/>
            <a:ext cx="1304282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Batching transforms inefficient sequential queries into optimized parallel processing. This technique dramatically reduces overhead while improving output quality.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02011" y="3365897"/>
            <a:ext cx="219706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70%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909" y="2249448"/>
            <a:ext cx="2679383" cy="2679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4152" y="513421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Token Reduction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09617"/>
            <a:ext cx="421362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Batching similar queries reduces overhead tokens by up to 70% compared to sequential processing.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6491" y="3365897"/>
            <a:ext cx="219706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3x</a:t>
            </a:r>
            <a:endParaRPr lang="en-US" sz="3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390" y="2249448"/>
            <a:ext cx="2679383" cy="26793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8751" y="513421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Speed Improvement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08270" y="5509617"/>
            <a:ext cx="421374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Batched requests process up to 3x faster than equivalent sequential queries.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631091" y="3365897"/>
            <a:ext cx="219706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60%</a:t>
            </a:r>
            <a:endParaRPr lang="en-US" sz="3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989" y="2249448"/>
            <a:ext cx="2679383" cy="26793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13350" y="513421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 Savings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22869" y="5509617"/>
            <a:ext cx="421374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report 40-60% API cost reduction through systematic batching strategies.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93790" y="629364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Batching Benefits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813709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efficiency, batching improves AI performance. Models detect patterns more effectively across grouped examples, leading to more consistent and higher-quality outputs. Structure your workflow to identify repetitive tasks that can be combined into single, comprehensive prompts.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681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2532"/>
            <a:ext cx="65726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Ethics &amp; Data Responsibility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08026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proficiency means nothing without ethical practice. This section addresses the two critical responsibilities every AI practitioner must master: recognizing and mitigating bias, and protecting sensitive information.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25612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aren't optional considerations—they're professional requirements. Bias produces harmful outputs that damage users and organizations. Privacy breaches destroy trust and violate legal obligations.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43198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3257B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Mastering these principles separates responsible practitioners from reckless users who create liability and harm.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58549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662"/>
            <a:ext cx="64808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Types of Bias in AI Systems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215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isn't a single problem—it's a constellation of systematic errors that emerge from training data, cultural assumptions, and historical inequities. Recognition is the first step toward mitigation.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979896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Geographic Bias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153257"/>
            <a:ext cx="41821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trained primarily on Western data underrepresent global perspectives. Search results, recommendations, and classifications favor dominant cultural viewpoints while marginalizing others.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2979896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Gender Bias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4153257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training data embeds occupational stereotypes. AI systems associate certain professions with specific genders, perpetuating discrimination in recommendations and classifications.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2979896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Historical Bias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4153257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on historical texts preserves outdated social norms and prejudices. Models reproduce discriminatory language and assumptions that society has since rejected.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93790" y="5964198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259473"/>
            <a:ext cx="248007" cy="198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8513" y="621208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Remember: AI doesn't create bias—it amplifies and systematizes biases present in training data. Our job is vigilant detection and active correction.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683271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8333"/>
            <a:ext cx="60384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Mitigation Strategies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86606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Awareness accomplishes nothing without action. These practical techniques actively counter bias in AI outputs, transforming recognition into responsible practice.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2922746"/>
            <a:ext cx="32315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Explicitly Request Diversity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43126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assume balanced representation. Specify requirements directly: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24493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"Include perspectives from multiple geographic regions"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94942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"Ensure gender-neutral language throughout"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65392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"Represent diverse age groups and abilities"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467594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 instructions override default biases embedded in training data.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21674" y="2922746"/>
            <a:ext cx="27855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 Assumptions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821674" y="343126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AI outputs feel narrow or stereotypical, push back: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424493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alternative perspectives exist?"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821674" y="494942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would this answer change in different cultural contexts?"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821674" y="565392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groups might this overlook?"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821674" y="6150054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3257B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Your critical questioning forces the model to consider perspectives beyond its default patterns.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4065750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75" y="547330"/>
            <a:ext cx="1147048" cy="372547"/>
          </a:xfrm>
          <a:prstGeom prst="roundRect">
            <a:avLst>
              <a:gd name="adj" fmla="val 6387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019" y="654248"/>
            <a:ext cx="158591" cy="158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906" y="606743"/>
            <a:ext cx="671274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3075" y="999173"/>
            <a:ext cx="8413671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Red List: What Never Goes to AI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075" y="1916311"/>
            <a:ext cx="13044249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Certain information must never enter prompts sent to cloud-based AI systems. This isn't paranoia—it's professional responsibility and legal obligation.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075" y="2773680"/>
            <a:ext cx="6422946" cy="1822490"/>
          </a:xfrm>
          <a:prstGeom prst="roundRect">
            <a:avLst>
              <a:gd name="adj" fmla="val 6021"/>
            </a:avLst>
          </a:prstGeom>
          <a:solidFill>
            <a:srgbClr val="FBFCFE"/>
          </a:solidFill>
          <a:ln w="2286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0215" y="2773680"/>
            <a:ext cx="91440" cy="1822490"/>
          </a:xfrm>
          <a:prstGeom prst="roundRect">
            <a:avLst>
              <a:gd name="adj" fmla="val 32528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82754" y="2994779"/>
            <a:ext cx="4145756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Proprietary Recipes &amp; Formulations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82754" y="3423523"/>
            <a:ext cx="5912168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Trade secrets, manufacturing processes, chemical formulations, and proprietary algorithms. Once exposed, these cannot be unshared.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4260" y="2773680"/>
            <a:ext cx="6423065" cy="1822490"/>
          </a:xfrm>
          <a:prstGeom prst="roundRect">
            <a:avLst>
              <a:gd name="adj" fmla="val 6021"/>
            </a:avLst>
          </a:prstGeom>
          <a:solidFill>
            <a:srgbClr val="FBFCFE"/>
          </a:solidFill>
          <a:ln w="2286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91400" y="2773680"/>
            <a:ext cx="91440" cy="1822490"/>
          </a:xfrm>
          <a:prstGeom prst="roundRect">
            <a:avLst>
              <a:gd name="adj" fmla="val 32528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03939" y="2994779"/>
            <a:ext cx="344150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Unpublished Research &amp; Data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703939" y="3423523"/>
            <a:ext cx="5912287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Pre-publication findings, experimental results, and confidential research data. Exposure risks intellectual property and competitive advantage.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93075" y="4794409"/>
            <a:ext cx="6422946" cy="1822490"/>
          </a:xfrm>
          <a:prstGeom prst="roundRect">
            <a:avLst>
              <a:gd name="adj" fmla="val 6021"/>
            </a:avLst>
          </a:prstGeom>
          <a:solidFill>
            <a:srgbClr val="FBFCFE"/>
          </a:solidFill>
          <a:ln w="2286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0215" y="4794409"/>
            <a:ext cx="91440" cy="1822490"/>
          </a:xfrm>
          <a:prstGeom prst="roundRect">
            <a:avLst>
              <a:gd name="adj" fmla="val 32528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82754" y="5015508"/>
            <a:ext cx="290667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Patent-Pending Methods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082754" y="5444252"/>
            <a:ext cx="5912168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Innovations awaiting patent protection are especially vulnerable. Disclosure before filing can invalidate patent applications.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414260" y="4794409"/>
            <a:ext cx="6423065" cy="1822490"/>
          </a:xfrm>
          <a:prstGeom prst="roundRect">
            <a:avLst>
              <a:gd name="adj" fmla="val 6021"/>
            </a:avLst>
          </a:prstGeom>
          <a:solidFill>
            <a:srgbClr val="FBFCFE"/>
          </a:solidFill>
          <a:ln w="2286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391400" y="4794409"/>
            <a:ext cx="91440" cy="1822490"/>
          </a:xfrm>
          <a:prstGeom prst="roundRect">
            <a:avLst>
              <a:gd name="adj" fmla="val 32528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03939" y="5015508"/>
            <a:ext cx="257901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Client &amp; Personal Data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7703939" y="5444252"/>
            <a:ext cx="5912287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information, personal identifiers, financial records, and health data. Legal frameworks like GDPR and HIPAA mandate strict protection.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793075" y="6839903"/>
            <a:ext cx="13044249" cy="842367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314" y="7135178"/>
            <a:ext cx="247769" cy="19823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37323" y="7087672"/>
            <a:ext cx="12201763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in doubt, keep it out. The consequences of data exposure far exceed the convenience of AI assistance.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39991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503"/>
            <a:ext cx="71000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Local Sandbox Advantage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5641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AI deployment solves the privacy problem by ensuring sensitive data never leaves your device. This architectural approach enables AI capabilities without compromising confidentiality.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14738"/>
            <a:ext cx="2348865" cy="1451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90662" y="3614738"/>
            <a:ext cx="31327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Complete Data Sovereignty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3390662" y="4043958"/>
            <a:ext cx="380047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models run locally, your data remains under your exclusive control. No transmission to external servers, no third-party processing, no cloud storage vulnerabilities.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3614738"/>
            <a:ext cx="2348865" cy="14516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36016" y="3614738"/>
            <a:ext cx="27478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Zero Network Exposure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036016" y="4043958"/>
            <a:ext cx="380059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inference works offline, eliminating network interception risks. Perfect for air-gapped environments and classified workflows.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93790" y="585489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3257B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Use local sandboxes for any task involving Red List information.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architectural choice transforms AI from a privacy liability into a confidential tool you can trust with your most sensitive work. The slight reduction in model capability is a small price for absolute data security.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794671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56880"/>
            <a:ext cx="742950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2852" y="2716411"/>
            <a:ext cx="50482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109317"/>
            <a:ext cx="12014002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7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CO-STAR Framework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93790" y="4647367"/>
            <a:ext cx="808208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communication with rich context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93790" y="5540305"/>
            <a:ext cx="13042821" cy="32385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623" y="593388"/>
            <a:ext cx="64756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Framework Selection Guide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40863" y="2363199"/>
            <a:ext cx="304371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AUTOMAT when: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40863" y="33568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Functional, structured tasks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0863" y="412983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Clear input output transformation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40863" y="490242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Format is most important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93789" y="5749819"/>
            <a:ext cx="14269747" cy="77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</a:t>
            </a: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extraction,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formatting, protocol conversion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27513" y="23788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CO-STAR when: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928662" y="336685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Strategic, narrative content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910181" y="41609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Audience perspective matters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10181" y="499311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buSzPct val="100000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Context and tone critical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557255" y="567501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</a:t>
            </a: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Reports, pitches, literature reviews, management communication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25" y="503039"/>
            <a:ext cx="4779407" cy="571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6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CO-STAR Components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0925" y="1439466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913567" y="1622108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300" y="1772841"/>
            <a:ext cx="246578" cy="2465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567" y="2352913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 - Context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3567" y="2747963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(Background &amp; situation)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406521" y="1439466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9" name="Shape 6"/>
          <p:cNvSpPr/>
          <p:nvPr/>
        </p:nvSpPr>
        <p:spPr>
          <a:xfrm>
            <a:off x="7589163" y="1622108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9896" y="1772841"/>
            <a:ext cx="246578" cy="2465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163" y="2352913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- Objective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7589163" y="2747963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(Goal you want to achieve)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730925" y="3405664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14" name="Shape 10"/>
          <p:cNvSpPr/>
          <p:nvPr/>
        </p:nvSpPr>
        <p:spPr>
          <a:xfrm>
            <a:off x="913567" y="3588306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4300" y="3739039"/>
            <a:ext cx="246578" cy="2465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3567" y="4319111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 - Style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913567" y="4714161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(Writing approach)</a:t>
            </a:r>
            <a:endParaRPr lang="en-US" sz="3200" dirty="0"/>
          </a:p>
        </p:txBody>
      </p:sp>
      <p:sp>
        <p:nvSpPr>
          <p:cNvPr id="18" name="Shape 13"/>
          <p:cNvSpPr/>
          <p:nvPr/>
        </p:nvSpPr>
        <p:spPr>
          <a:xfrm>
            <a:off x="7406521" y="3405664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19" name="Shape 14"/>
          <p:cNvSpPr/>
          <p:nvPr/>
        </p:nvSpPr>
        <p:spPr>
          <a:xfrm>
            <a:off x="7589163" y="3588306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9896" y="3739039"/>
            <a:ext cx="246578" cy="2465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163" y="4319111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 - Tone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7589163" y="4714161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(Voice &amp; emotional quality)</a:t>
            </a:r>
            <a:endParaRPr lang="en-US" sz="3200" dirty="0"/>
          </a:p>
        </p:txBody>
      </p:sp>
      <p:sp>
        <p:nvSpPr>
          <p:cNvPr id="23" name="Shape 17"/>
          <p:cNvSpPr/>
          <p:nvPr/>
        </p:nvSpPr>
        <p:spPr>
          <a:xfrm>
            <a:off x="730925" y="5371862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24" name="Shape 18"/>
          <p:cNvSpPr/>
          <p:nvPr/>
        </p:nvSpPr>
        <p:spPr>
          <a:xfrm>
            <a:off x="913567" y="5554504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4300" y="5705237"/>
            <a:ext cx="246578" cy="24657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3567" y="6285309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- Audience</a:t>
            </a:r>
            <a:endParaRPr lang="en-US" sz="3600" dirty="0"/>
          </a:p>
        </p:txBody>
      </p:sp>
      <p:sp>
        <p:nvSpPr>
          <p:cNvPr id="27" name="Text 20"/>
          <p:cNvSpPr/>
          <p:nvPr/>
        </p:nvSpPr>
        <p:spPr>
          <a:xfrm>
            <a:off x="913567" y="6680359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(Who will read/use this)</a:t>
            </a:r>
            <a:endParaRPr lang="en-US" sz="3200" dirty="0"/>
          </a:p>
        </p:txBody>
      </p:sp>
      <p:sp>
        <p:nvSpPr>
          <p:cNvPr id="28" name="Shape 21"/>
          <p:cNvSpPr/>
          <p:nvPr/>
        </p:nvSpPr>
        <p:spPr>
          <a:xfrm>
            <a:off x="7406521" y="5371862"/>
            <a:ext cx="6492954" cy="1783556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29" name="Shape 22"/>
          <p:cNvSpPr/>
          <p:nvPr/>
        </p:nvSpPr>
        <p:spPr>
          <a:xfrm>
            <a:off x="7589163" y="5554504"/>
            <a:ext cx="548164" cy="548164"/>
          </a:xfrm>
          <a:prstGeom prst="roundRect">
            <a:avLst>
              <a:gd name="adj" fmla="val 1667947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 sz="40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39896" y="5705237"/>
            <a:ext cx="246578" cy="24657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9163" y="6285309"/>
            <a:ext cx="2284214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 - Response</a:t>
            </a:r>
            <a:endParaRPr lang="en-US" sz="3600" dirty="0"/>
          </a:p>
        </p:txBody>
      </p:sp>
      <p:sp>
        <p:nvSpPr>
          <p:cNvPr id="32" name="Text 24"/>
          <p:cNvSpPr/>
          <p:nvPr/>
        </p:nvSpPr>
        <p:spPr>
          <a:xfrm>
            <a:off x="7589163" y="6680359"/>
            <a:ext cx="612767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(Format &amp; structure)</a:t>
            </a:r>
            <a:endParaRPr lang="en-US" sz="3200" dirty="0"/>
          </a:p>
        </p:txBody>
      </p:sp>
      <p:sp>
        <p:nvSpPr>
          <p:cNvPr id="33" name="Text 25"/>
          <p:cNvSpPr/>
          <p:nvPr/>
        </p:nvSpPr>
        <p:spPr>
          <a:xfrm>
            <a:off x="730925" y="7481862"/>
            <a:ext cx="13168551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components = Strategic specification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285" y="66567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 - Context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01285" y="1719917"/>
            <a:ext cx="696265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6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Provide rich background information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93790" y="34362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to Include: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93790" y="3976863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situation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1411" y="4524845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this task is needed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93790" y="5025301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constraints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11411" y="5535580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background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3790" y="6045635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3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work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410444" y="2589249"/>
            <a:ext cx="8019234" cy="5078877"/>
          </a:xfrm>
          <a:prstGeom prst="roundRect">
            <a:avLst>
              <a:gd name="adj" fmla="val 1063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 sz="44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444" y="2737347"/>
            <a:ext cx="409218" cy="3273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18841" y="2919663"/>
            <a:ext cx="2480905" cy="1099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Example: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615053" y="3421064"/>
            <a:ext cx="7582209" cy="3608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"AmaDema is preparing for Series A funding focused on sustainable materials. We need to demonstrate our ceramic nanofibres' environmental advantages. Target investors prioritise ESG metrics. We have strong technical data but lack compelling narrative for non-technical stakeholders."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615052" y="6908287"/>
            <a:ext cx="67269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Sets stage for everything that follows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596" y="54107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6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- Objective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537117" y="147840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 specific goal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93790" y="2936379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Vague: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86170" y="355966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about our materials"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564874" y="2777490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Specific: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546001" y="3254157"/>
            <a:ext cx="6279356" cy="21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compelling narrative positioning our non-oxide ceramics as sustainable alternative to PLA, emphasising lifecycle carbon footprint reduction of 40%"</a:t>
            </a:r>
            <a:endParaRPr lang="en-US" sz="3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DCDEC0-9A93-EAB9-997D-7C51B33CE35D}"/>
              </a:ext>
            </a:extLst>
          </p:cNvPr>
          <p:cNvGrpSpPr/>
          <p:nvPr/>
        </p:nvGrpSpPr>
        <p:grpSpPr>
          <a:xfrm>
            <a:off x="801409" y="6565463"/>
            <a:ext cx="13042821" cy="1339334"/>
            <a:chOff x="793790" y="5226129"/>
            <a:chExt cx="13042821" cy="1339334"/>
          </a:xfrm>
        </p:grpSpPr>
        <p:sp>
          <p:nvSpPr>
            <p:cNvPr id="8" name="Shape 6"/>
            <p:cNvSpPr/>
            <p:nvPr/>
          </p:nvSpPr>
          <p:spPr>
            <a:xfrm>
              <a:off x="793790" y="5226129"/>
              <a:ext cx="13042821" cy="1339334"/>
            </a:xfrm>
            <a:prstGeom prst="roundRect">
              <a:avLst>
                <a:gd name="adj" fmla="val 2223"/>
              </a:avLst>
            </a:prstGeom>
            <a:solidFill>
              <a:srgbClr val="C3CFEF"/>
            </a:solidFill>
            <a:ln/>
          </p:spPr>
          <p:txBody>
            <a:bodyPr/>
            <a:lstStyle/>
            <a:p>
              <a:endParaRPr lang="en-US" sz="400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148" y="5521404"/>
              <a:ext cx="248007" cy="198358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438513" y="5474018"/>
              <a:ext cx="12199739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Key:</a:t>
              </a:r>
              <a:r>
                <a:rPr lang="en-US" sz="3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Define what success looks like</a:t>
              </a:r>
              <a:endParaRPr lang="en-US" sz="3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438513" y="5970151"/>
              <a:ext cx="12199739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3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just topic, but desired outcome</a:t>
              </a:r>
              <a:endParaRPr lang="en-US" sz="32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43" y="791075"/>
            <a:ext cx="49783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 - Style and T - Tone</a:t>
            </a:r>
            <a:endParaRPr lang="en-US" sz="5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347E66-C674-CAB1-B7A3-523A906C31A9}"/>
              </a:ext>
            </a:extLst>
          </p:cNvPr>
          <p:cNvGrpSpPr/>
          <p:nvPr/>
        </p:nvGrpSpPr>
        <p:grpSpPr>
          <a:xfrm>
            <a:off x="585243" y="1807988"/>
            <a:ext cx="13804525" cy="5630537"/>
            <a:chOff x="585243" y="1807988"/>
            <a:chExt cx="13042821" cy="2867621"/>
          </a:xfrm>
        </p:grpSpPr>
        <p:sp>
          <p:nvSpPr>
            <p:cNvPr id="3" name="Text 1"/>
            <p:cNvSpPr/>
            <p:nvPr/>
          </p:nvSpPr>
          <p:spPr>
            <a:xfrm>
              <a:off x="585243" y="1807988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Style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defines your writing approach, such as:</a:t>
              </a:r>
            </a:p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	 </a:t>
              </a:r>
              <a:r>
                <a:rPr lang="en-US" sz="2400" i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Academic, Journalistic, Technical, Executive, or Conversational </a:t>
              </a:r>
              <a:endParaRPr lang="en-US" sz="2400" i="1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85243" y="2348770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Tone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conveys the emotional quality of your message: </a:t>
              </a:r>
            </a:p>
            <a:p>
              <a:pPr lvl="1">
                <a:lnSpc>
                  <a:spcPts val="2500"/>
                </a:lnSpc>
              </a:pPr>
              <a:r>
                <a:rPr lang="en-US" sz="2400" i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Confident, Cautious, Inspirational, Objective, or Urgent</a:t>
              </a:r>
              <a:endParaRPr lang="en-US" sz="2400" i="1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5243" y="2889552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Together, Style and Tone create your unique </a:t>
              </a: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</a:t>
              </a:r>
            </a:p>
            <a:p>
              <a:pPr marL="0" indent="0" algn="l">
                <a:lnSpc>
                  <a:spcPts val="2500"/>
                </a:lnSpc>
                <a:buNone/>
              </a:pPr>
              <a:endParaRPr 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is a strategic choice, not an arbitrary one. For example:</a:t>
              </a:r>
            </a:p>
            <a:p>
              <a:pPr marL="0" indent="0" algn="l">
                <a:lnSpc>
                  <a:spcPts val="2500"/>
                </a:lnSpc>
                <a:buNone/>
              </a:pP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85243" y="3430334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 investor pitch might blend a journalistic style with a confident tone to inspire trust </a:t>
              </a:r>
            </a:p>
            <a:p>
              <a:pPr algn="l">
                <a:lnSpc>
                  <a:spcPts val="2500"/>
                </a:lnSpc>
                <a:buSzPct val="100000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and demonstrate potential.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85243" y="3817287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Safety protocols, conversely, demand a technical style with a cautious tone </a:t>
              </a:r>
            </a:p>
            <a:p>
              <a:pPr algn="l">
                <a:lnSpc>
                  <a:spcPts val="2500"/>
                </a:lnSpc>
                <a:buSzPct val="100000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 ensure clarity and precision.</a:t>
              </a:r>
              <a:endParaRPr lang="en-US" sz="2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85243" y="4358069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Align </a:t>
              </a: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Style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and </a:t>
              </a: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Tone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craft a </a:t>
              </a: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that effectively resonates with your </a:t>
              </a:r>
              <a:r>
                <a:rPr lang="en-US" sz="24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audience and purpose</a:t>
              </a: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82581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351" y="436107"/>
            <a:ext cx="71768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- Audience and R - Response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80442" y="1691104"/>
            <a:ext cx="43742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- Audience (Who Reads This)</a:t>
            </a:r>
            <a:endParaRPr lang="en-US" sz="3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78F897-8C9E-7101-53DA-CB2F6E84C55F}"/>
              </a:ext>
            </a:extLst>
          </p:cNvPr>
          <p:cNvGrpSpPr/>
          <p:nvPr/>
        </p:nvGrpSpPr>
        <p:grpSpPr>
          <a:xfrm>
            <a:off x="380404" y="2460295"/>
            <a:ext cx="6486049" cy="2005815"/>
            <a:chOff x="587097" y="2696678"/>
            <a:chExt cx="6486049" cy="2005815"/>
          </a:xfrm>
        </p:grpSpPr>
        <p:sp>
          <p:nvSpPr>
            <p:cNvPr id="4" name="Text 2"/>
            <p:cNvSpPr/>
            <p:nvPr/>
          </p:nvSpPr>
          <p:spPr>
            <a:xfrm>
              <a:off x="587097" y="2696678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Define: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3224093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Technical background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3611047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Priorities/concerns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3998000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Existing knowledge</a:t>
              </a:r>
              <a:endParaRPr lang="en-US" sz="2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3790" y="4384953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Decision criteria</a:t>
              </a:r>
              <a:endParaRPr lang="en-US" sz="24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587097" y="559273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Audience: "VC partners at deep-tech firms. Understand business fundamentals but not materials science. Sceptical of greenwashing - want hard data."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0" y="1691104"/>
            <a:ext cx="47276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 - Response (Format &amp; Structure)</a:t>
            </a:r>
            <a:endParaRPr lang="en-US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FCFE3C-9580-CF90-03F0-2766F18E2E92}"/>
              </a:ext>
            </a:extLst>
          </p:cNvPr>
          <p:cNvGrpSpPr/>
          <p:nvPr/>
        </p:nvGrpSpPr>
        <p:grpSpPr>
          <a:xfrm>
            <a:off x="7459149" y="2460295"/>
            <a:ext cx="6279356" cy="1974533"/>
            <a:chOff x="7564874" y="2727960"/>
            <a:chExt cx="6279356" cy="1974533"/>
          </a:xfrm>
        </p:grpSpPr>
        <p:sp>
          <p:nvSpPr>
            <p:cNvPr id="11" name="Text 9"/>
            <p:cNvSpPr/>
            <p:nvPr/>
          </p:nvSpPr>
          <p:spPr>
            <a:xfrm>
              <a:off x="7564874" y="2727960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Specify: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564874" y="3224093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Length (pages/words)</a:t>
              </a:r>
              <a:endParaRPr lang="en-US" sz="2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564874" y="3611047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Sections and order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564874" y="3998000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Required elements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564874" y="4384953"/>
              <a:ext cx="6279356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Visual callouts</a:t>
              </a:r>
              <a:endParaRPr lang="en-US" sz="24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7459149" y="558587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Response: "2-page executive summary: Hook (1 para), Problem (2 paras), Solution (3 paras), Market (2 paras), Ask (1 para). Include data visualisation callouts."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5520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159" y="384571"/>
            <a:ext cx="768000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Demo 3 - CO-STAR in Action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553159" y="1159608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7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DEMO #3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53159" y="2353478"/>
            <a:ext cx="528637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Complete CO-STAR Example</a:t>
            </a:r>
            <a:endParaRPr lang="en-US" sz="31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2B08B5-4C01-1861-7D28-47FFC4C7C5AA}"/>
              </a:ext>
            </a:extLst>
          </p:cNvPr>
          <p:cNvGrpSpPr/>
          <p:nvPr/>
        </p:nvGrpSpPr>
        <p:grpSpPr>
          <a:xfrm>
            <a:off x="793790" y="3160295"/>
            <a:ext cx="13042821" cy="4991246"/>
            <a:chOff x="793790" y="3795355"/>
            <a:chExt cx="13042821" cy="3889653"/>
          </a:xfrm>
        </p:grpSpPr>
        <p:sp>
          <p:nvSpPr>
            <p:cNvPr id="5" name="Text 3"/>
            <p:cNvSpPr/>
            <p:nvPr/>
          </p:nvSpPr>
          <p:spPr>
            <a:xfrm>
              <a:off x="793790" y="3795355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28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Task:</a:t>
              </a: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GB" sz="2400" dirty="0" err="1"/>
                <a:t>AmaDema's</a:t>
              </a:r>
              <a:r>
                <a:rPr lang="en-GB" sz="2400" dirty="0"/>
                <a:t> R&amp;D Director wants a 1-page memo on adopting AI tools, </a:t>
              </a:r>
            </a:p>
            <a:p>
              <a:pPr>
                <a:lnSpc>
                  <a:spcPts val="2500"/>
                </a:lnSpc>
              </a:pPr>
              <a:r>
                <a:rPr lang="en-GB" sz="2400" dirty="0"/>
                <a:t>addressing concerns about accuracy, IP security, training time, and cost vs benefit</a:t>
              </a:r>
              <a:r>
                <a:rPr lang="en-GB" dirty="0"/>
                <a:t>.</a:t>
              </a:r>
            </a:p>
            <a:p>
              <a:pPr marL="0" indent="0" algn="l">
                <a:lnSpc>
                  <a:spcPts val="2500"/>
                </a:lnSpc>
                <a:buNone/>
              </a:pP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4483617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Watch: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4876919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Font typeface="+mj-lt"/>
                <a:buAutoNum type="arabicPeriod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Building prompt with all 6 components</a:t>
              </a:r>
              <a:endParaRPr lang="en-US" sz="2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3790" y="5263872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Font typeface="+mj-lt"/>
                <a:buAutoNum type="arabicPeriod" startAt="2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First-shot result</a:t>
              </a:r>
              <a:endParaRPr 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93790" y="5650825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Font typeface="+mj-lt"/>
                <a:buAutoNum type="arabicPeriod" startAt="3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Quality assessment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3790" y="6191607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Real-world scenario, real-time demo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3790" y="6732389"/>
              <a:ext cx="13042821" cy="952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Live demo time! 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2781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69" y="340027"/>
            <a:ext cx="9002316" cy="5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Small Group Activity 2 - Build CO-STAR Prompt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63569" y="966075"/>
            <a:ext cx="7591663" cy="698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SMALL GROUP ACTIVITY #2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463569" y="1769319"/>
            <a:ext cx="7001947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(15 minutes) Build Your Own CO-STAR Prompt</a:t>
            </a:r>
            <a:endParaRPr lang="en-US" sz="25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5A4241-9874-EEB6-0E90-DCE76C305626}"/>
              </a:ext>
            </a:extLst>
          </p:cNvPr>
          <p:cNvGrpSpPr/>
          <p:nvPr/>
        </p:nvGrpSpPr>
        <p:grpSpPr>
          <a:xfrm>
            <a:off x="609600" y="2470484"/>
            <a:ext cx="12556926" cy="5313821"/>
            <a:chOff x="1463754" y="2782133"/>
            <a:chExt cx="11702772" cy="4042887"/>
          </a:xfrm>
        </p:grpSpPr>
        <p:sp>
          <p:nvSpPr>
            <p:cNvPr id="5" name="Text 3"/>
            <p:cNvSpPr/>
            <p:nvPr/>
          </p:nvSpPr>
          <p:spPr>
            <a:xfrm>
              <a:off x="1463754" y="2782133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Groups of 3-4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463754" y="3223260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Scenario: Write 1-page memo to AmaDema management about implementing green AI practices in R&amp;D team.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463754" y="3664387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task: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463754" y="4105513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Font typeface="+mj-lt"/>
                <a:buAutoNum type="arabicPeriod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Discuss what each component should contain (5 min)</a:t>
              </a:r>
              <a:endParaRPr lang="en-US" sz="2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463754" y="4421148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Font typeface="+mj-lt"/>
                <a:buAutoNum type="arabicPeriod" startAt="2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Write complete CO-STAR prompt together (7 min)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63754" y="4736783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Font typeface="+mj-lt"/>
                <a:buAutoNum type="arabicPeriod" startAt="3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One group will test in sandbox (3 min)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463754" y="5177909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Assign roles: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463754" y="5619036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Facilitator (keeps discussion on track)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754" y="5934670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Note-taker (writes the prompt)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463754" y="6250305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Presenter (will share if selected)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463754" y="6565940"/>
              <a:ext cx="11702772" cy="2590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Quality checker (ensures all 6 components covered)</a:t>
              </a:r>
              <a:endParaRPr lang="en-US" sz="20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1463754" y="7007066"/>
            <a:ext cx="117027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46765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A6E39F-D248-875A-E2B4-C7DD54824292}"/>
              </a:ext>
            </a:extLst>
          </p:cNvPr>
          <p:cNvSpPr txBox="1"/>
          <p:nvPr/>
        </p:nvSpPr>
        <p:spPr>
          <a:xfrm>
            <a:off x="479502" y="58005"/>
            <a:ext cx="13381463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SCENARIO: Green AI Practices Memo</a:t>
            </a:r>
          </a:p>
          <a:p>
            <a:endParaRPr lang="en-GB" dirty="0"/>
          </a:p>
          <a:p>
            <a:r>
              <a:rPr lang="en-GB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Background: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</a:t>
            </a:r>
            <a:r>
              <a:rPr lang="en-GB" sz="20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AmaDema</a:t>
            </a:r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management is evaluating company-wide sustainability initiatives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R&amp;D team uses AI tools extensively for literature review and data analysis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Current usage: Untracked, no guidelines on efficiency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Management wants to understand: costs, environmental impact, 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  optimisation opportunities</a:t>
            </a:r>
          </a:p>
          <a:p>
            <a:endParaRPr lang="en-GB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GB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Your task: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Write a 1-page internal memo to </a:t>
            </a:r>
            <a:r>
              <a:rPr lang="en-GB" sz="20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AmaDema</a:t>
            </a:r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management recommending 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implementation of "green AI" practices in the R&amp;D team.</a:t>
            </a:r>
          </a:p>
          <a:p>
            <a:endParaRPr lang="en-GB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GB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Considerations: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Management includes CEO (business focus), CTO (technical focus), 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  CFO (cost focus)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They care about: Environmental responsibility, cost efficiency, 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  competitive advantage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Must balance: Productivity vs environmental impact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Company has public ESG commitments</a:t>
            </a:r>
          </a:p>
          <a:p>
            <a:endParaRPr lang="en-GB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GB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Required in memo: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What green AI practices mean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Why </a:t>
            </a:r>
            <a:r>
              <a:rPr lang="en-GB" sz="20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AmaDema</a:t>
            </a:r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should implement them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Estimated impact (environmental and cost)</a:t>
            </a:r>
          </a:p>
          <a:p>
            <a:r>
              <a:rPr lang="en-GB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 Proposed action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70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606" y="250375"/>
            <a:ext cx="70415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Activity 2 - Live Test &amp; Debrief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73606" y="1096960"/>
            <a:ext cx="512754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Let's Test a Group's Prompt!</a:t>
            </a:r>
            <a:endParaRPr lang="en-US" sz="31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475614-2ABF-CD10-5A0B-D8F057FBD2F1}"/>
              </a:ext>
            </a:extLst>
          </p:cNvPr>
          <p:cNvGrpSpPr/>
          <p:nvPr/>
        </p:nvGrpSpPr>
        <p:grpSpPr>
          <a:xfrm>
            <a:off x="793790" y="2005263"/>
            <a:ext cx="13042821" cy="5694947"/>
            <a:chOff x="793790" y="2529602"/>
            <a:chExt cx="13042821" cy="3487698"/>
          </a:xfrm>
        </p:grpSpPr>
        <p:sp>
          <p:nvSpPr>
            <p:cNvPr id="4" name="Text 2"/>
            <p:cNvSpPr/>
            <p:nvPr/>
          </p:nvSpPr>
          <p:spPr>
            <a:xfrm>
              <a:off x="793790" y="2529602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[Selected Group]: Present your CO-STAR prompt</a:t>
              </a:r>
              <a:endParaRPr lang="en-US" sz="28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3070384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We'll test it live in sandbox and assess: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3611166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Did all 6 components work together?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3998119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Is output appropriate for audience?</a:t>
              </a:r>
              <a:endParaRPr lang="en-US" sz="2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3790" y="4385072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Does style and tone match specification?</a:t>
              </a:r>
              <a:endParaRPr 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93790" y="4772025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Is structure as requested?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3790" y="5158978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Would this persuade management?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3790" y="5699760"/>
              <a:ext cx="13042821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Then:</a:t>
              </a:r>
              <a:r>
                <a:rPr lang="en-US" sz="28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Other groups share their approaches</a:t>
              </a:r>
              <a:endParaRPr lang="en-US" sz="28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793790" y="624054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158592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244" y="375284"/>
            <a:ext cx="8251269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CO-STAR Examples for Materials Science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431244" y="1144913"/>
            <a:ext cx="5827752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CO-STAR Quick Reference Examples</a:t>
            </a:r>
            <a:endParaRPr lang="en-US" sz="26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5582BB-2713-E756-9039-5DD2492DF765}"/>
              </a:ext>
            </a:extLst>
          </p:cNvPr>
          <p:cNvGrpSpPr/>
          <p:nvPr/>
        </p:nvGrpSpPr>
        <p:grpSpPr>
          <a:xfrm>
            <a:off x="431244" y="1807862"/>
            <a:ext cx="13766019" cy="6046454"/>
            <a:chOff x="1151811" y="2294453"/>
            <a:chExt cx="12326660" cy="4923592"/>
          </a:xfrm>
        </p:grpSpPr>
        <p:sp>
          <p:nvSpPr>
            <p:cNvPr id="4" name="Shape 2"/>
            <p:cNvSpPr/>
            <p:nvPr/>
          </p:nvSpPr>
          <p:spPr>
            <a:xfrm>
              <a:off x="1151811" y="2294453"/>
              <a:ext cx="3995142" cy="4194021"/>
            </a:xfrm>
            <a:prstGeom prst="roundRect">
              <a:avLst>
                <a:gd name="adj" fmla="val 742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Text 3"/>
            <p:cNvSpPr/>
            <p:nvPr/>
          </p:nvSpPr>
          <p:spPr>
            <a:xfrm>
              <a:off x="1345168" y="2487811"/>
              <a:ext cx="3211711" cy="2663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Scenario 1: Journal Introduction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345168" y="2856428"/>
              <a:ext cx="3608427" cy="5455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Manuscript on PLA/graphene for Polymer journal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345168" y="3504248"/>
              <a:ext cx="3608427" cy="272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Establish research gap justifying our study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345168" y="3879294"/>
              <a:ext cx="3608427" cy="272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Academic synthesis (not exhaustive listing)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345168" y="4254341"/>
              <a:ext cx="3608427" cy="272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Authoritative but respectful of prior work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345168" y="4629388"/>
              <a:ext cx="3608427" cy="272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Polymer scientists reviewing for publication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345168" y="5004435"/>
              <a:ext cx="3608427" cy="5455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R: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4 paragraphs (~1000 words), specific structure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17450" y="2294453"/>
              <a:ext cx="3995261" cy="4194021"/>
            </a:xfrm>
            <a:prstGeom prst="roundRect">
              <a:avLst>
                <a:gd name="adj" fmla="val 742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Text 11"/>
            <p:cNvSpPr/>
            <p:nvPr/>
          </p:nvSpPr>
          <p:spPr>
            <a:xfrm>
              <a:off x="5510808" y="2487811"/>
              <a:ext cx="2734628" cy="2663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Scenario 2: Patent Analysis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510809" y="2856428"/>
              <a:ext cx="3522646" cy="27353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C: </a:t>
              </a:r>
              <a:r>
                <a:rPr lang="en-US" sz="1600" dirty="0" err="1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AmaDema's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in-situ reduction method </a:t>
              </a:r>
            </a:p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for patent filing</a:t>
              </a:r>
            </a:p>
            <a:p>
              <a:pPr>
                <a:lnSpc>
                  <a:spcPts val="2100"/>
                </a:lnSpc>
              </a:pPr>
              <a:endPara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O: 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Identify prior art that could challenge </a:t>
              </a:r>
            </a:p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Patentability</a:t>
              </a:r>
            </a:p>
            <a:p>
              <a:pPr>
                <a:lnSpc>
                  <a:spcPts val="2100"/>
                </a:lnSpc>
              </a:pPr>
              <a:endPara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S: 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Technical legal analysis with materials </a:t>
              </a:r>
            </a:p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Focus</a:t>
              </a:r>
            </a:p>
            <a:p>
              <a:pPr>
                <a:lnSpc>
                  <a:spcPts val="2100"/>
                </a:lnSpc>
              </a:pPr>
              <a:endPara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T: 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Cautious - flag risks, don't miss overlaps</a:t>
              </a:r>
            </a:p>
            <a:p>
              <a:pPr>
                <a:lnSpc>
                  <a:spcPts val="2100"/>
                </a:lnSpc>
              </a:pPr>
              <a:endPara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A: 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Patent attorney (not materials scientist)</a:t>
              </a:r>
            </a:p>
            <a:p>
              <a:pPr>
                <a:lnSpc>
                  <a:spcPts val="2100"/>
                </a:lnSpc>
              </a:pPr>
              <a:endPara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R: </a:t>
              </a: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Risk assessment table with DOI, </a:t>
              </a:r>
            </a:p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method, overlap level</a:t>
              </a:r>
            </a:p>
            <a:p>
              <a:pPr marL="0" indent="0" algn="l">
                <a:lnSpc>
                  <a:spcPts val="2100"/>
                </a:lnSpc>
                <a:buNone/>
              </a:pP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9483209" y="2294453"/>
              <a:ext cx="3995261" cy="4194021"/>
            </a:xfrm>
            <a:prstGeom prst="roundRect">
              <a:avLst>
                <a:gd name="adj" fmla="val 742"/>
              </a:avLst>
            </a:prstGeom>
            <a:solidFill>
              <a:srgbClr val="FBFCFE"/>
            </a:solidFill>
            <a:ln w="22860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14"/>
            <p:cNvSpPr/>
            <p:nvPr/>
          </p:nvSpPr>
          <p:spPr>
            <a:xfrm>
              <a:off x="9676567" y="2487811"/>
              <a:ext cx="2542699" cy="2663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Scenario 3: Investor Pitch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676567" y="2856428"/>
              <a:ext cx="3608546" cy="36320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C: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Series A funding round (5M target),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ESG-focused VCs</a:t>
              </a:r>
            </a:p>
            <a:p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O: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Position ceramics as sustainable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PLA alternative</a:t>
              </a:r>
            </a:p>
            <a:p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S: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Journalistic meets executive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(engaging + data-backed)</a:t>
              </a:r>
            </a:p>
            <a:p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T: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Confident, visionary, evidence-based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(no hype)</a:t>
              </a:r>
            </a:p>
            <a:p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A: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VC partners - business savvy,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not materials experts</a:t>
              </a:r>
            </a:p>
            <a:p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  <a:p>
              <a:r>
                <a:rPr lang="en-US" sz="1600" b="1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R: </a:t>
              </a:r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2-page executive summary </a:t>
              </a:r>
            </a:p>
            <a:p>
              <a:r>
                <a:rPr lang="en-US" sz="1600" dirty="0">
                  <a:latin typeface="Roboto Slab" pitchFamily="2" charset="0"/>
                  <a:ea typeface="Roboto Slab" pitchFamily="2" charset="0"/>
                  <a:cs typeface="Roboto Slab" pitchFamily="2" charset="0"/>
                </a:rPr>
                <a:t>with clear section structure</a:t>
              </a:r>
            </a:p>
            <a:p>
              <a:pPr marL="0" indent="0" algn="l">
                <a:lnSpc>
                  <a:spcPts val="2100"/>
                </a:lnSpc>
                <a:buNone/>
              </a:pPr>
              <a:endPara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151811" y="6911160"/>
              <a:ext cx="12326660" cy="272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these as templates!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151811" y="6399728"/>
              <a:ext cx="12326660" cy="818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7382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4970</Words>
  <Application>Microsoft Office PowerPoint</Application>
  <PresentationFormat>Custom</PresentationFormat>
  <Paragraphs>531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Roboto Slab</vt:lpstr>
      <vt:lpstr>Wingdings</vt:lpstr>
      <vt:lpstr>Roboto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Avgi Stavrou</cp:lastModifiedBy>
  <cp:revision>2</cp:revision>
  <dcterms:created xsi:type="dcterms:W3CDTF">2026-01-18T18:12:40Z</dcterms:created>
  <dcterms:modified xsi:type="dcterms:W3CDTF">2026-01-26T09:04:59Z</dcterms:modified>
</cp:coreProperties>
</file>